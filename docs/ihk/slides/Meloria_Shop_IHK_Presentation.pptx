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4328f58cc94ea6" /><Relationship Type="http://schemas.openxmlformats.org/officeDocument/2006/relationships/extended-properties" Target="/docProps/app.xml" Id="R45e5c27808574b40" /><Relationship Type="http://schemas.openxmlformats.org/officeDocument/2006/relationships/officeDocument" Target="/ppt/presentation.xml" Id="R9a33c292589544d0" /></Relationships>
</file>

<file path=ppt/presentation.xml><?xml version="1.0" encoding="utf-8"?>
<p:presentation xmlns:p="http://schemas.openxmlformats.org/presentationml/2006/main">
  <p:sldMasterIdLst>
    <p:sldMasterId xmlns:r="http://schemas.openxmlformats.org/officeDocument/2006/relationships" id="2147483648" r:id="R1f61382299be4241"/>
  </p:sldMasterIdLst>
  <p:notesMasterIdLst>
    <p:notesMasterId xmlns:r="http://schemas.openxmlformats.org/officeDocument/2006/relationships" r:id="R421fb5766c014260"/>
  </p:notesMasterIdLst>
  <p:sldIdLst>
    <p:sldId xmlns:r="http://schemas.openxmlformats.org/officeDocument/2006/relationships" id="256" r:id="Ra87b77c50109495f"/>
    <p:sldId xmlns:r="http://schemas.openxmlformats.org/officeDocument/2006/relationships" id="257" r:id="R33749e772402451c"/>
    <p:sldId xmlns:r="http://schemas.openxmlformats.org/officeDocument/2006/relationships" id="258" r:id="R62bcd59f606f4f1c"/>
    <p:sldId xmlns:r="http://schemas.openxmlformats.org/officeDocument/2006/relationships" id="259" r:id="Rd3f8fa10df504ec0"/>
    <p:sldId xmlns:r="http://schemas.openxmlformats.org/officeDocument/2006/relationships" id="260" r:id="Rdb448a1876984d1c"/>
    <p:sldId xmlns:r="http://schemas.openxmlformats.org/officeDocument/2006/relationships" id="261" r:id="Rae8b4dc6c8444f79"/>
    <p:sldId xmlns:r="http://schemas.openxmlformats.org/officeDocument/2006/relationships" id="262" r:id="Rfb69f28abc6b4b2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16c62090db42d2" /><Relationship Type="http://schemas.openxmlformats.org/officeDocument/2006/relationships/slideMaster" Target="/ppt/slideMasters/slideMaster1.xml" Id="R1f61382299be4241" /><Relationship Type="http://schemas.openxmlformats.org/officeDocument/2006/relationships/notesMaster" Target="/ppt/notesMasters/notesMaster1.xml" Id="R421fb5766c014260" /><Relationship Type="http://schemas.openxmlformats.org/officeDocument/2006/relationships/presProps" Target="/ppt/presProps.xml" Id="R5302770919a145d3" /><Relationship Type="http://schemas.openxmlformats.org/officeDocument/2006/relationships/tableStyles" Target="/ppt/tableStyles.xml" Id="R57f8170b52a1492f" /><Relationship Type="http://schemas.openxmlformats.org/officeDocument/2006/relationships/slide" Target="/ppt/slides/slide1.xml" Id="Ra87b77c50109495f" /><Relationship Type="http://schemas.openxmlformats.org/officeDocument/2006/relationships/slide" Target="/ppt/slides/slide2.xml" Id="R33749e772402451c" /><Relationship Type="http://schemas.openxmlformats.org/officeDocument/2006/relationships/slide" Target="/ppt/slides/slide3.xml" Id="R62bcd59f606f4f1c" /><Relationship Type="http://schemas.openxmlformats.org/officeDocument/2006/relationships/slide" Target="/ppt/slides/slide4.xml" Id="Rd3f8fa10df504ec0" /><Relationship Type="http://schemas.openxmlformats.org/officeDocument/2006/relationships/slide" Target="/ppt/slides/slide5.xml" Id="Rdb448a1876984d1c" /><Relationship Type="http://schemas.openxmlformats.org/officeDocument/2006/relationships/slide" Target="/ppt/slides/slide6.xml" Id="Rae8b4dc6c8444f79" /><Relationship Type="http://schemas.openxmlformats.org/officeDocument/2006/relationships/slide" Target="/ppt/slides/slide7.xml" Id="Rfb69f28abc6b4b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d3a1199e2643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ato"/>
        <a:ea typeface=""/>
        <a:cs typeface=""/>
      </a:majorFont>
      <a:minorFont>
        <a:latin typeface="La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8df308744c41e9" /><Relationship Type="http://schemas.openxmlformats.org/officeDocument/2006/relationships/notesMaster" Target="/ppt/notesMasters/notesMaster1.xml" Id="Rc9940226d16748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a9c72e0f164a67" /><Relationship Type="http://schemas.openxmlformats.org/officeDocument/2006/relationships/notesMaster" Target="/ppt/notesMasters/notesMaster1.xml" Id="R5925be62c22840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6080bfcaef4e26" /><Relationship Type="http://schemas.openxmlformats.org/officeDocument/2006/relationships/notesMaster" Target="/ppt/notesMasters/notesMaster1.xml" Id="R69c90f962fa441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5bb36561784b5c" /><Relationship Type="http://schemas.openxmlformats.org/officeDocument/2006/relationships/notesMaster" Target="/ppt/notesMasters/notesMaster1.xml" Id="R3b953d87de6540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1ce33ec6834136" /><Relationship Type="http://schemas.openxmlformats.org/officeDocument/2006/relationships/notesMaster" Target="/ppt/notesMasters/notesMaster1.xml" Id="R231868951bd94d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8e5f69a30a44ce" /><Relationship Type="http://schemas.openxmlformats.org/officeDocument/2006/relationships/notesMaster" Target="/ppt/notesMasters/notesMaster1.xml" Id="Rf732529b5b6e4d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c386360f4b4e34" /><Relationship Type="http://schemas.openxmlformats.org/officeDocument/2006/relationships/notesMaster" Target="/ppt/notesMasters/notesMaster1.xml" Id="R9a4a205d3d294f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Meloria is my first personal online shop. I want to test a small business in Ukraine and support Ukrainian manufacturers. The current catalogue presents Presentwill products. Large marketplaces such as Amazon and Temu inspired the shopping concept, but my current scope is a small shop with a focused catalogue. The customer needs an easy way to find a gift, review it and place an order.</a:t>
            </a:r>
          </a:p>
          <a:p xmlns:a="http://schemas.openxmlformats.org/drawingml/2006/main">
            <a:r>
              <a:t/>
            </a:r>
          </a:p>
          <a:p xmlns:a="http://schemas.openxmlformats.org/drawingml/2006/main">
            <a:r>
              <a:t>Sources: Owner-provided project purpose; README.md.</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shop covers the main customer journey. Customers can search, filter, add products to the shared cart and complete a validated order form. The server saves the order before it attempts a Telegram notification. The warm visual style suits gifts and home products. Scope limits are intentional: the interface is Ukrainian, the catalogue comes from a JSON file and payment uses manual transfer rather than an integrated payment gateway.</a:t>
            </a:r>
          </a:p>
          <a:p xmlns:a="http://schemas.openxmlformats.org/drawingml/2006/main">
            <a:r>
              <a:t/>
            </a:r>
          </a:p>
          <a:p xmlns:a="http://schemas.openxmlformats.org/drawingml/2006/main">
            <a:r>
              <a:t>Sources: src/pages/Home.tsx; src/pages/Checkout/Checkout.tsx; api/orders.ts; README.md.</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and TypeScript implement the interface, with CSS Modules for styling. Vercel hosts both the frontend and the serverless order API. App contains the main layout and routed pages. Home renders product cards. Local hooks manage forms and filters. Cart Context shares cart state with the cart drawer and checkout, and localStorage preserves it after refresh. The catalogue loads products.json. Checkout sends a request to /api/orders. The API validates it and saves the order in Supabase using a private server key. After saving, the API attempts a Telegram notification. Supabase itself does not send that message. Clerk provides authentication.</a:t>
            </a:r>
          </a:p>
          <a:p xmlns:a="http://schemas.openxmlformats.org/drawingml/2006/main">
            <a:r>
              <a:t/>
            </a:r>
          </a:p>
          <a:p xmlns:a="http://schemas.openxmlformats.org/drawingml/2006/main">
            <a:r>
              <a:t>Sources: src/App.tsx; src/pages/Home.tsx; src/context/CartContext.tsx; api/orders.ts; vercel.json.</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Three-minute browser demo: 0:00–0:40 search or filter a product, 0:40–1:20 add it to the cart and update quantity, 1:20–2:20 open checkout and demonstrate invalid or missing fields, 2:20–3:00 show the mobile layout. Prepare the browser tab before presenting. Use synthetic data in any form demonstration. Do not submit a real order during this demo. Keep a local development build ready for catalogue and cart, plus these screenshots as a visual fallback. The default local Vite server does not provide the production order API, so do not promise a successful offline order.</a:t>
            </a:r>
          </a:p>
          <a:p xmlns:a="http://schemas.openxmlformats.org/drawingml/2006/main">
            <a:r>
              <a:t/>
            </a:r>
          </a:p>
          <a:p xmlns:a="http://schemas.openxmlformats.org/drawingml/2006/main">
            <a:r>
              <a:t>Sources: docs/qa/final-verification-2026-10-15.txt; src/pages/Checkout/Checkout.tsx.</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observed that checkout failed on the legacy GitHub Pages address. On the Vercel domain, the order appeared in Supabase and the Telegram notification arrived. We compared the deployment setups with AI assistance. GitHub Pages serves static files and cannot run our server order handler. Vercel supports the handler. The fix changed the legacy Pages deployment into a redirect, preserving the destination route. The owner published and verified it. The screenshot shows the real cart interface, not a captured error screen.</a:t>
            </a:r>
          </a:p>
          <a:p xmlns:a="http://schemas.openxmlformats.org/drawingml/2006/main">
            <a:r>
              <a:t/>
            </a:r>
          </a:p>
          <a:p xmlns:a="http://schemas.openxmlformats.org/drawingml/2006/main">
            <a:r>
              <a:t>Sources: scripts/build-github-redirect.js; docs/qa/final-verification-2026-10-15.txt; owner-provided confirmation.</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recorded verification on 15 October reports 73 passing automated tests, lint, application and API TypeScript checks and a production build. Browser checks covered desktop and mobile layouts and simulated-service loading, empty, error and checkout flows. The owner separately confirmed a production order. Accessibility work includes semantic controls, labels, focus indicators and keyboard improvements. No Lighthouse score or complete accessibility conformance audit is available. Tests and demonstrations should use synthetic data. Private Supabase credentials stay on the server and public order access was closed. I used AI for review and debugging, and I am responsible for understanding and reviewing changes.</a:t>
            </a:r>
          </a:p>
          <a:p xmlns:a="http://schemas.openxmlformats.org/drawingml/2006/main">
            <a:r>
              <a:t/>
            </a:r>
          </a:p>
          <a:p xmlns:a="http://schemas.openxmlformats.org/drawingml/2006/main">
            <a:r>
              <a:t>Sources: docs/qa/final-verification-2026-10-15.txt; scripts/secure-order-access.sql.</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learned to keep shared state ownership clear, verify deployment assumptions and make small, testable changes. My next business steps may include more Ukrainian manufacturers, German localization and an online payment gateway. A paginated catalogue API would reduce the large initial data download. These are future plans rather than current features. I want to develop the business gradually and support Ukrainian manufacturers. Thank you.</a:t>
            </a:r>
          </a:p>
          <a:p xmlns:a="http://schemas.openxmlformats.org/drawingml/2006/main">
            <a:r>
              <a:t/>
            </a:r>
          </a:p>
          <a:p xmlns:a="http://schemas.openxmlformats.org/drawingml/2006/main">
            <a:r>
              <a:t>Sources: README.md; docs/qa/final-verification-2026-10-15.txt; owner-provided roadmap.</a:t>
            </a:r>
          </a:p>
          <a:p xmlns:a="http://schemas.openxmlformats.org/drawingml/2006/main">
            <a:r>
              <a:t>Project: https://github.com/OlhaKhodakivska/meloria-shop</a:t>
            </a:r>
          </a:p>
          <a:p xmlns:a="http://schemas.openxmlformats.org/drawingml/2006/main">
            <a:r>
              <a:t>Screenshots: https://www.meloria.pp.ua/, captured 16 October 2026. Structure and timing: user-provided IHK slide plan. Visual direction: user-provided Pinterest reference, adapted to Meloria colours.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f2eae68dc14a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724ef2ce7445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b893bf944c41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821822ca0f44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8af3b821d24d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c7014d5c54246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0D9479-FE1C-4D76-ADC2-BDD8B86216E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A9BEE5-244B-4331-8D48-02C8A80D6DD4}"/>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7BBC91-5BC5-4555-9978-6DE00649295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928E6C-CDF9-432B-ABA3-9D4943FC1EE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B51C44-4869-477B-B84D-5DD8EDCF2963}"/>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A300FF-6443-44DD-AE85-9BF738D3289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80A682-FA50-4629-BDF9-91CE9214B1E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E2E1D9-4E78-4410-AFD7-F3A06690DA9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D75D44-2A4F-4A63-8E87-280098A1603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D78CD8-CDAC-4DE4-A32B-503769722EE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898d9703e64f16" /><Relationship Type="http://schemas.openxmlformats.org/officeDocument/2006/relationships/slideLayout" Target="/ppt/slideLayouts/slideLayout1.xml" Id="R7230c9e246df4d61" /><Relationship Type="http://schemas.openxmlformats.org/officeDocument/2006/relationships/slideLayout" Target="/ppt/slideLayouts/slideLayout2.xml" Id="Re1a5401c545b4589" /><Relationship Type="http://schemas.openxmlformats.org/officeDocument/2006/relationships/slideLayout" Target="/ppt/slideLayouts/slideLayout3.xml" Id="R186862b3c3714eca" /><Relationship Type="http://schemas.openxmlformats.org/officeDocument/2006/relationships/slideLayout" Target="/ppt/slideLayouts/slideLayout4.xml" Id="R5545df5e37ee4aef" /><Relationship Type="http://schemas.openxmlformats.org/officeDocument/2006/relationships/slideLayout" Target="/ppt/slideLayouts/slideLayout5.xml" Id="R7b7bcda63a744792" /><Relationship Type="http://schemas.openxmlformats.org/officeDocument/2006/relationships/slideLayout" Target="/ppt/slideLayouts/slideLayout6.xml" Id="R113dc0e33e7146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30c9e246df4d61"/>
    <p:sldLayoutId xmlns:r="http://schemas.openxmlformats.org/officeDocument/2006/relationships" id="2147483650" r:id="Re1a5401c545b4589"/>
    <p:sldLayoutId xmlns:r="http://schemas.openxmlformats.org/officeDocument/2006/relationships" id="2147483651" r:id="R186862b3c3714eca"/>
    <p:sldLayoutId xmlns:r="http://schemas.openxmlformats.org/officeDocument/2006/relationships" id="2147483652" r:id="R5545df5e37ee4aef"/>
    <p:sldLayoutId xmlns:r="http://schemas.openxmlformats.org/officeDocument/2006/relationships" id="2147483653" r:id="R7b7bcda63a744792"/>
    <p:sldLayoutId xmlns:r="http://schemas.openxmlformats.org/officeDocument/2006/relationships" id="2147483654" r:id="R113dc0e33e7146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ato"/>
        <a:ea typeface=""/>
        <a:cs typeface=""/>
      </a:majorFont>
      <a:minorFont>
        <a:latin typeface="La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321b74228a414c" /><Relationship Type="http://schemas.openxmlformats.org/officeDocument/2006/relationships/hyperlink" Target="https://www.meloria.pp.ua/" TargetMode="External" Id="R7fefbf8995f34d1a" /><Relationship Type="http://schemas.openxmlformats.org/officeDocument/2006/relationships/hyperlink" Target="https://github.com/OlhaKhodakivska/meloria-shop" TargetMode="External" Id="R7046deabafa44990" /><Relationship Type="http://schemas.openxmlformats.org/officeDocument/2006/relationships/image" Target="/ppt/media/image.jpeg" Id="Rbbae239cee4f43c7" /><Relationship Type="http://schemas.openxmlformats.org/officeDocument/2006/relationships/notesSlide" Target="/ppt/notesSlides/notesSlide1.xml" Id="R9917c27816ca4b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9c0b0cdca84a61" /><Relationship Type="http://schemas.openxmlformats.org/officeDocument/2006/relationships/hyperlink" Target="https://www.meloria.pp.ua/" TargetMode="External" Id="Rc51110c03c2b4a4a" /><Relationship Type="http://schemas.openxmlformats.org/officeDocument/2006/relationships/hyperlink" Target="https://github.com/OlhaKhodakivska/meloria-shop" TargetMode="External" Id="Re412a4fc42604d08" /><Relationship Type="http://schemas.openxmlformats.org/officeDocument/2006/relationships/image" Target="/ppt/media/image2.jpeg" Id="R72beeb5793804215" /><Relationship Type="http://schemas.openxmlformats.org/officeDocument/2006/relationships/notesSlide" Target="/ppt/notesSlides/notesSlide2.xml" Id="R64b50db2f5f848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ec059aae304838" /><Relationship Type="http://schemas.openxmlformats.org/officeDocument/2006/relationships/hyperlink" Target="https://www.meloria.pp.ua/" TargetMode="External" Id="Rdff4729419dd4b0b" /><Relationship Type="http://schemas.openxmlformats.org/officeDocument/2006/relationships/hyperlink" Target="https://github.com/OlhaKhodakivska/meloria-shop" TargetMode="External" Id="R465591bda5bd4e13" /><Relationship Type="http://schemas.openxmlformats.org/officeDocument/2006/relationships/notesSlide" Target="/ppt/notesSlides/notesSlide3.xml" Id="R5db1f38745b640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2902d151a1423b" /><Relationship Type="http://schemas.openxmlformats.org/officeDocument/2006/relationships/hyperlink" Target="https://www.meloria.pp.ua/" TargetMode="External" Id="R49bec5e62738498a" /><Relationship Type="http://schemas.openxmlformats.org/officeDocument/2006/relationships/hyperlink" Target="https://github.com/OlhaKhodakivska/meloria-shop" TargetMode="External" Id="R40cbf2025a0b45ec" /><Relationship Type="http://schemas.openxmlformats.org/officeDocument/2006/relationships/hyperlink" Target="https://www.meloria.pp.ua/" TargetMode="External" Id="Rb1e9d8d0cc184f2f" /><Relationship Type="http://schemas.openxmlformats.org/officeDocument/2006/relationships/image" Target="/ppt/media/image3.jpeg" Id="R905c8f5e98eb4d7b" /><Relationship Type="http://schemas.openxmlformats.org/officeDocument/2006/relationships/image" Target="/ppt/media/image4.jpeg" Id="Rbc50d329c7034763" /><Relationship Type="http://schemas.openxmlformats.org/officeDocument/2006/relationships/notesSlide" Target="/ppt/notesSlides/notesSlide4.xml" Id="R6c3442f0190a41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d5e47a5c604455" /><Relationship Type="http://schemas.openxmlformats.org/officeDocument/2006/relationships/hyperlink" Target="https://www.meloria.pp.ua/" TargetMode="External" Id="Rfed998f0a0664f73" /><Relationship Type="http://schemas.openxmlformats.org/officeDocument/2006/relationships/hyperlink" Target="https://github.com/OlhaKhodakivska/meloria-shop" TargetMode="External" Id="R5346be2282444850" /><Relationship Type="http://schemas.openxmlformats.org/officeDocument/2006/relationships/image" Target="/ppt/media/image5.jpeg" Id="Ref76d531b14b42c3" /><Relationship Type="http://schemas.openxmlformats.org/officeDocument/2006/relationships/notesSlide" Target="/ppt/notesSlides/notesSlide5.xml" Id="R6f75ff35a6a64c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8939204de842a2" /><Relationship Type="http://schemas.openxmlformats.org/officeDocument/2006/relationships/hyperlink" Target="https://www.meloria.pp.ua/" TargetMode="External" Id="Rd3c020ecf8be4478" /><Relationship Type="http://schemas.openxmlformats.org/officeDocument/2006/relationships/hyperlink" Target="https://github.com/OlhaKhodakivska/meloria-shop" TargetMode="External" Id="R08193f6e3f334168" /><Relationship Type="http://schemas.openxmlformats.org/officeDocument/2006/relationships/hyperlink" Target="https://github.com/OlhaKhodakivska/meloria-shop/blob/main/docs/qa/final-verification-2026-10-15.txt" TargetMode="External" Id="R58a481a51eb04609" /><Relationship Type="http://schemas.openxmlformats.org/officeDocument/2006/relationships/notesSlide" Target="/ppt/notesSlides/notesSlide6.xml" Id="Ra0f69dae9edc43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073ae4354a4246" /><Relationship Type="http://schemas.openxmlformats.org/officeDocument/2006/relationships/hyperlink" Target="https://www.meloria.pp.ua/" TargetMode="External" Id="Redfa795dfc9c4d54" /><Relationship Type="http://schemas.openxmlformats.org/officeDocument/2006/relationships/hyperlink" Target="https://github.com/OlhaKhodakivska/meloria-shop" TargetMode="External" Id="R4164562f038742f1" /><Relationship Type="http://schemas.openxmlformats.org/officeDocument/2006/relationships/image" Target="/ppt/media/image6.jpeg" Id="Rb11e304bbb444f9d" /><Relationship Type="http://schemas.openxmlformats.org/officeDocument/2006/relationships/hyperlink" Target="https://www.meloria.pp.ua/" TargetMode="External" Id="R9c9ae4a04fc44f70" /><Relationship Type="http://schemas.openxmlformats.org/officeDocument/2006/relationships/notesSlide" Target="/ppt/notesSlides/notesSlide7.xml" Id="Ra41e0874ba38445d" /></Relationships>
</file>

<file path=ppt/slides/slide1.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15" name="panel-1">
            <a:extLst xmlns:a="http://schemas.openxmlformats.org/drawingml/2006/main">
              <a:ext uri="{FF2B5EF4-FFF2-40B4-BE49-F238E27FC236}">
                <a16:creationId xmlns:a16="http://schemas.microsoft.com/office/drawing/2014/main" id="{1CD08DC6-29AB-456B-8AB5-27A242F87002}"/>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2">
            <a:extLst xmlns:a="http://schemas.openxmlformats.org/drawingml/2006/main">
              <a:ext uri="{FF2B5EF4-FFF2-40B4-BE49-F238E27FC236}">
                <a16:creationId xmlns:a16="http://schemas.microsoft.com/office/drawing/2014/main" id="{F3511A52-43FB-40E8-9E17-123ADD85CF16}"/>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3">
            <a:extLst xmlns:a="http://schemas.openxmlformats.org/drawingml/2006/main">
              <a:ext uri="{FF2B5EF4-FFF2-40B4-BE49-F238E27FC236}">
                <a16:creationId xmlns:a16="http://schemas.microsoft.com/office/drawing/2014/main" id="{FBD1C161-FE9B-4EA0-A87F-9B5245766A05}"/>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01 / 07     1:00</a:t>
            </a:r>
          </a:p>
        </p:txBody>
      </p:sp>
      <p:sp>
        <p:nvSpPr>
          <p:cNvPr id="4" name="text-4">
            <a:extLst xmlns:a="http://schemas.openxmlformats.org/drawingml/2006/main">
              <a:ext uri="{FF2B5EF4-FFF2-40B4-BE49-F238E27FC236}">
                <a16:creationId xmlns:a16="http://schemas.microsoft.com/office/drawing/2014/main" id="{01E2F681-6990-441D-AFD6-910FDFA0EA9A}"/>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Title &amp; Problem Statement</a:t>
            </a:r>
          </a:p>
        </p:txBody>
      </p:sp>
      <p:sp>
        <p:nvSpPr>
          <p:cNvPr id="5" name="text-5">
            <a:extLst xmlns:a="http://schemas.openxmlformats.org/drawingml/2006/main">
              <a:ext uri="{FF2B5EF4-FFF2-40B4-BE49-F238E27FC236}">
                <a16:creationId xmlns:a16="http://schemas.microsoft.com/office/drawing/2014/main" id="{CDB29FB7-5247-4DD7-9D86-59BB5BB68EA0}"/>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7fefbf8995f34d1a"/>
              </a:rPr>
              <a:t>meloria.pp.ua</a:t>
            </a:r>
          </a:p>
        </p:txBody>
      </p:sp>
      <p:sp>
        <p:nvSpPr>
          <p:cNvPr id="6" name="text-6">
            <a:extLst xmlns:a="http://schemas.openxmlformats.org/drawingml/2006/main">
              <a:ext uri="{FF2B5EF4-FFF2-40B4-BE49-F238E27FC236}">
                <a16:creationId xmlns:a16="http://schemas.microsoft.com/office/drawing/2014/main" id="{85574888-9F09-4E9D-9D24-A8F737D6CC95}"/>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7046deabafa44990"/>
              </a:rPr>
              <a:t>GitHub repository</a:t>
            </a:r>
          </a:p>
        </p:txBody>
      </p:sp>
      <p:sp>
        <p:nvSpPr>
          <p:cNvPr id="7" name="panel-7">
            <a:extLst xmlns:a="http://schemas.openxmlformats.org/drawingml/2006/main">
              <a:ext uri="{FF2B5EF4-FFF2-40B4-BE49-F238E27FC236}">
                <a16:creationId xmlns:a16="http://schemas.microsoft.com/office/drawing/2014/main" id="{7C2F0E3E-8E1F-411B-A411-4F11EEF2C0E9}"/>
              </a:ext>
            </a:extLst>
          </p:cNvPr>
          <p:cNvSpPr>
            <a:spLocks xmlns:a="http://schemas.openxmlformats.org/drawingml/2006/main" noGrp="1"/>
          </p:cNvSpPr>
          <p:nvPr/>
        </p:nvSpPr>
        <p:spPr>
          <a:xfrm xmlns:a="http://schemas.openxmlformats.org/drawingml/2006/main">
            <a:off x="685800" y="2038350"/>
            <a:ext cx="5715000" cy="5143500"/>
          </a:xfrm>
          <a:prstGeom xmlns:a="http://schemas.openxmlformats.org/drawingml/2006/main" prst="roundRect">
            <a:avLst>
              <a:gd name="adj" fmla="val 4074"/>
            </a:avLst>
          </a:prstGeom>
          <a:solidFill xmlns:a="http://schemas.openxmlformats.org/drawingml/2006/main">
            <a:srgbClr val="F3EFE9"/>
          </a:solidFill>
          <a:ln xmlns:a="http://schemas.openxmlformats.org/drawingml/2006/main" w="0">
            <a:noFill/>
          </a:ln>
        </p:spPr>
      </p:sp>
      <p:sp>
        <p:nvSpPr>
          <p:cNvPr id="8" name="text-8">
            <a:extLst xmlns:a="http://schemas.openxmlformats.org/drawingml/2006/main">
              <a:ext uri="{FF2B5EF4-FFF2-40B4-BE49-F238E27FC236}">
                <a16:creationId xmlns:a16="http://schemas.microsoft.com/office/drawing/2014/main" id="{29FB630D-96A0-4BC0-A169-6B8CF9E344BF}"/>
              </a:ext>
            </a:extLst>
          </p:cNvPr>
          <p:cNvSpPr>
            <a:spLocks xmlns:a="http://schemas.openxmlformats.org/drawingml/2006/main" noGrp="1"/>
          </p:cNvSpPr>
          <p:nvPr/>
        </p:nvSpPr>
        <p:spPr>
          <a:xfrm xmlns:a="http://schemas.openxmlformats.org/drawingml/2006/main">
            <a:off x="1000125" y="2324100"/>
            <a:ext cx="523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132345"/>
                </a:solidFill>
                <a:latin typeface="Lato"/>
                <a:ea typeface="Lato"/>
                <a:cs typeface="Lato"/>
              </a:defRPr>
            </a:defPPr>
          </a:lstStyle>
          <a:p xmlns:a="http://schemas.openxmlformats.org/drawingml/2006/main">
            <a:pPr>
              <a:defRPr sz="4875" b="1">
                <a:solidFill>
                  <a:srgbClr val="132345"/>
                </a:solidFill>
                <a:latin typeface="Lato"/>
                <a:ea typeface="Lato"/>
                <a:cs typeface="Lato"/>
              </a:defRPr>
            </a:pPr>
            <a:r>
              <a:rPr sz="4875" b="1">
                <a:solidFill>
                  <a:srgbClr val="132345"/>
                </a:solidFill>
                <a:latin typeface="Lato"/>
                <a:ea typeface="Lato"/>
                <a:cs typeface="Lato"/>
              </a:rPr>
              <a:t>Meloria Shop</a:t>
            </a:r>
          </a:p>
        </p:txBody>
      </p:sp>
      <p:sp>
        <p:nvSpPr>
          <p:cNvPr id="9" name="text-9">
            <a:extLst xmlns:a="http://schemas.openxmlformats.org/drawingml/2006/main">
              <a:ext uri="{FF2B5EF4-FFF2-40B4-BE49-F238E27FC236}">
                <a16:creationId xmlns:a16="http://schemas.microsoft.com/office/drawing/2014/main" id="{33BFAB3C-677C-4A54-9997-5FD14E95C85C}"/>
              </a:ext>
            </a:extLst>
          </p:cNvPr>
          <p:cNvSpPr>
            <a:spLocks xmlns:a="http://schemas.openxmlformats.org/drawingml/2006/main" noGrp="1"/>
          </p:cNvSpPr>
          <p:nvPr/>
        </p:nvSpPr>
        <p:spPr>
          <a:xfrm xmlns:a="http://schemas.openxmlformats.org/drawingml/2006/main">
            <a:off x="1028700" y="3276600"/>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0">
                <a:solidFill>
                  <a:srgbClr val="22314A"/>
                </a:solidFill>
                <a:latin typeface="Lato"/>
                <a:ea typeface="Lato"/>
                <a:cs typeface="Lato"/>
              </a:defRPr>
            </a:defPPr>
          </a:lstStyle>
          <a:p xmlns:a="http://schemas.openxmlformats.org/drawingml/2006/main">
            <a:pPr>
              <a:defRPr sz="2625" b="0">
                <a:solidFill>
                  <a:srgbClr val="22314A"/>
                </a:solidFill>
                <a:latin typeface="Lato"/>
                <a:ea typeface="Lato"/>
                <a:cs typeface="Lato"/>
              </a:defRPr>
            </a:pPr>
            <a:r>
              <a:rPr sz="2625" b="0">
                <a:solidFill>
                  <a:srgbClr val="22314A"/>
                </a:solidFill>
                <a:latin typeface="Lato"/>
                <a:ea typeface="Lato"/>
                <a:cs typeface="Lato"/>
              </a:rPr>
              <a:t>Ukrainian home products</a:t>
            </a:r>
          </a:p>
          <a:p xmlns:a="http://schemas.openxmlformats.org/drawingml/2006/main">
            <a:pPr>
              <a:defRPr sz="2625" b="0">
                <a:solidFill>
                  <a:srgbClr val="22314A"/>
                </a:solidFill>
                <a:latin typeface="Lato"/>
                <a:ea typeface="Lato"/>
                <a:cs typeface="Lato"/>
              </a:defRPr>
            </a:pPr>
            <a:r>
              <a:rPr sz="2625" b="0">
                <a:solidFill>
                  <a:srgbClr val="22314A"/>
                </a:solidFill>
                <a:latin typeface="Lato"/>
                <a:ea typeface="Lato"/>
                <a:cs typeface="Lato"/>
              </a:rPr>
              <a:t>and gifts</a:t>
            </a:r>
          </a:p>
        </p:txBody>
      </p:sp>
      <p:sp>
        <p:nvSpPr>
          <p:cNvPr id="10" name="text-10">
            <a:extLst xmlns:a="http://schemas.openxmlformats.org/drawingml/2006/main">
              <a:ext uri="{FF2B5EF4-FFF2-40B4-BE49-F238E27FC236}">
                <a16:creationId xmlns:a16="http://schemas.microsoft.com/office/drawing/2014/main" id="{AE22980A-7B3B-4F88-A187-ECDAE9B18ADC}"/>
              </a:ext>
            </a:extLst>
          </p:cNvPr>
          <p:cNvSpPr>
            <a:spLocks xmlns:a="http://schemas.openxmlformats.org/drawingml/2006/main" noGrp="1"/>
          </p:cNvSpPr>
          <p:nvPr/>
        </p:nvSpPr>
        <p:spPr>
          <a:xfrm xmlns:a="http://schemas.openxmlformats.org/drawingml/2006/main">
            <a:off x="1028700" y="45529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Who is it for?</a:t>
            </a:r>
          </a:p>
        </p:txBody>
      </p:sp>
      <p:sp>
        <p:nvSpPr>
          <p:cNvPr id="11" name="text-11">
            <a:extLst xmlns:a="http://schemas.openxmlformats.org/drawingml/2006/main">
              <a:ext uri="{FF2B5EF4-FFF2-40B4-BE49-F238E27FC236}">
                <a16:creationId xmlns:a16="http://schemas.microsoft.com/office/drawing/2014/main" id="{ED2D178C-4DD5-4593-BF7E-DDADA8B69D64}"/>
              </a:ext>
            </a:extLst>
          </p:cNvPr>
          <p:cNvSpPr>
            <a:spLocks xmlns:a="http://schemas.openxmlformats.org/drawingml/2006/main" noGrp="1"/>
          </p:cNvSpPr>
          <p:nvPr/>
        </p:nvSpPr>
        <p:spPr>
          <a:xfrm xmlns:a="http://schemas.openxmlformats.org/drawingml/2006/main">
            <a:off x="1028700" y="5000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Shoppers in Ukraine looking for</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thoughtful gifts and home accessories.</a:t>
            </a:r>
          </a:p>
        </p:txBody>
      </p:sp>
      <p:sp>
        <p:nvSpPr>
          <p:cNvPr id="12" name="text-12">
            <a:extLst xmlns:a="http://schemas.openxmlformats.org/drawingml/2006/main">
              <a:ext uri="{FF2B5EF4-FFF2-40B4-BE49-F238E27FC236}">
                <a16:creationId xmlns:a16="http://schemas.microsoft.com/office/drawing/2014/main" id="{42A93B7F-39D8-4239-9A04-C7451DDC4241}"/>
              </a:ext>
            </a:extLst>
          </p:cNvPr>
          <p:cNvSpPr>
            <a:spLocks xmlns:a="http://schemas.openxmlformats.org/drawingml/2006/main" noGrp="1"/>
          </p:cNvSpPr>
          <p:nvPr/>
        </p:nvSpPr>
        <p:spPr>
          <a:xfrm xmlns:a="http://schemas.openxmlformats.org/drawingml/2006/main">
            <a:off x="1028700" y="63531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32345"/>
                </a:solidFill>
                <a:latin typeface="Lato"/>
                <a:ea typeface="Lato"/>
                <a:cs typeface="Lato"/>
              </a:defRPr>
            </a:defPPr>
          </a:lstStyle>
          <a:p xmlns:a="http://schemas.openxmlformats.org/drawingml/2006/main">
            <a:pPr>
              <a:defRPr sz="2175" b="1">
                <a:solidFill>
                  <a:srgbClr val="132345"/>
                </a:solidFill>
                <a:latin typeface="Lato"/>
                <a:ea typeface="Lato"/>
                <a:cs typeface="Lato"/>
              </a:defRPr>
            </a:pPr>
            <a:r>
              <a:rPr sz="2175" b="1">
                <a:solidFill>
                  <a:srgbClr val="132345"/>
                </a:solidFill>
                <a:latin typeface="Lato"/>
                <a:ea typeface="Lato"/>
                <a:cs typeface="Lato"/>
              </a:rPr>
              <a:t>Olha Khodakivska</a:t>
            </a:r>
          </a:p>
        </p:txBody>
      </p:sp>
      <p:pic>
        <p:nvPicPr>
          <p:cNvPr id="13" name="">
            <a:extLst xmlns:a="http://schemas.openxmlformats.org/drawingml/2006/main">
              <a:ext uri="{FF2B5EF4-FFF2-40B4-BE49-F238E27FC236}">
                <a16:creationId xmlns:a16="http://schemas.microsoft.com/office/drawing/2014/main" id="{74EA154C-8EBB-4995-A05D-E6E051D3740F}"/>
              </a:ext>
            </a:extLst>
          </p:cNvPr>
          <p:cNvPicPr>
            <a:picLocks xmlns:a="http://schemas.openxmlformats.org/drawingml/2006/main" noChangeAspect="1"/>
          </p:cNvPicPr>
          <p:nvPr/>
        </p:nvPicPr>
        <p:blipFill>
          <a:blip xmlns:r="http://schemas.openxmlformats.org/officeDocument/2006/relationships" xmlns:a="http://schemas.openxmlformats.org/drawingml/2006/main" r:embed="Rbbae239cee4f43c7"/>
          <a:stretch xmlns:a="http://schemas.openxmlformats.org/drawingml/2006/main"/>
        </p:blipFill>
        <p:spPr>
          <a:xfrm xmlns:a="http://schemas.openxmlformats.org/drawingml/2006/main">
            <a:off x="6781800" y="2040285"/>
            <a:ext cx="7743825" cy="4358580"/>
          </a:xfrm>
          <a:prstGeom xmlns:a="http://schemas.openxmlformats.org/drawingml/2006/main" prst="roundRect">
            <a:avLst>
              <a:gd name="adj" fmla="val 3930"/>
            </a:avLst>
          </a:prstGeom>
        </p:spPr>
      </p:pic>
      <p:sp>
        <p:nvSpPr>
          <p:cNvPr id="14" name="text-13">
            <a:extLst xmlns:a="http://schemas.openxmlformats.org/drawingml/2006/main">
              <a:ext uri="{FF2B5EF4-FFF2-40B4-BE49-F238E27FC236}">
                <a16:creationId xmlns:a16="http://schemas.microsoft.com/office/drawing/2014/main" id="{DE7323BC-A454-4838-A76D-365FA5CEF930}"/>
              </a:ext>
            </a:extLst>
          </p:cNvPr>
          <p:cNvSpPr>
            <a:spLocks xmlns:a="http://schemas.openxmlformats.org/drawingml/2006/main" noGrp="1"/>
          </p:cNvSpPr>
          <p:nvPr/>
        </p:nvSpPr>
        <p:spPr>
          <a:xfrm xmlns:a="http://schemas.openxmlformats.org/drawingml/2006/main">
            <a:off x="7029450" y="664845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A clear path from product discovery</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to placing an order.</a:t>
            </a:r>
          </a:p>
        </p:txBody>
      </p:sp>
    </p:spTree>
    <p:extLst>
      <p:ext uri="{BB962C8B-B14F-4D97-AF65-F5344CB8AC3E}">
        <p14:creationId xmlns:p14="http://schemas.microsoft.com/office/powerpoint/2010/main" val="1441587156"/>
      </p:ext>
    </p:extLst>
  </p:cSld>
</p:sld>
</file>

<file path=ppt/slides/slide2.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15" name="panel-14">
            <a:extLst xmlns:a="http://schemas.openxmlformats.org/drawingml/2006/main">
              <a:ext uri="{FF2B5EF4-FFF2-40B4-BE49-F238E27FC236}">
                <a16:creationId xmlns:a16="http://schemas.microsoft.com/office/drawing/2014/main" id="{BD2F059B-AA57-422E-828C-F8A9541ABE2B}"/>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15">
            <a:extLst xmlns:a="http://schemas.openxmlformats.org/drawingml/2006/main">
              <a:ext uri="{FF2B5EF4-FFF2-40B4-BE49-F238E27FC236}">
                <a16:creationId xmlns:a16="http://schemas.microsoft.com/office/drawing/2014/main" id="{33A664BE-FE65-4DD4-85BA-3767074AAC3A}"/>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16">
            <a:extLst xmlns:a="http://schemas.openxmlformats.org/drawingml/2006/main">
              <a:ext uri="{FF2B5EF4-FFF2-40B4-BE49-F238E27FC236}">
                <a16:creationId xmlns:a16="http://schemas.microsoft.com/office/drawing/2014/main" id="{DBB9503A-91B9-4356-BEC1-798DDCEBE9BB}"/>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02 / 07     1:00</a:t>
            </a:r>
          </a:p>
        </p:txBody>
      </p:sp>
      <p:sp>
        <p:nvSpPr>
          <p:cNvPr id="4" name="text-17">
            <a:extLst xmlns:a="http://schemas.openxmlformats.org/drawingml/2006/main">
              <a:ext uri="{FF2B5EF4-FFF2-40B4-BE49-F238E27FC236}">
                <a16:creationId xmlns:a16="http://schemas.microsoft.com/office/drawing/2014/main" id="{1FEAC3CA-7EC7-45CD-AE6C-F91E9DB4A3BF}"/>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Core Objectives &amp; Scope</a:t>
            </a:r>
          </a:p>
        </p:txBody>
      </p:sp>
      <p:sp>
        <p:nvSpPr>
          <p:cNvPr id="5" name="text-18">
            <a:extLst xmlns:a="http://schemas.openxmlformats.org/drawingml/2006/main">
              <a:ext uri="{FF2B5EF4-FFF2-40B4-BE49-F238E27FC236}">
                <a16:creationId xmlns:a16="http://schemas.microsoft.com/office/drawing/2014/main" id="{D41C3F51-D8B5-4C95-93E5-C97CB895B32A}"/>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c51110c03c2b4a4a"/>
              </a:rPr>
              <a:t>meloria.pp.ua</a:t>
            </a:r>
          </a:p>
        </p:txBody>
      </p:sp>
      <p:sp>
        <p:nvSpPr>
          <p:cNvPr id="6" name="text-19">
            <a:extLst xmlns:a="http://schemas.openxmlformats.org/drawingml/2006/main">
              <a:ext uri="{FF2B5EF4-FFF2-40B4-BE49-F238E27FC236}">
                <a16:creationId xmlns:a16="http://schemas.microsoft.com/office/drawing/2014/main" id="{C410FD23-E356-4762-9622-C4C4B833AA02}"/>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e412a4fc42604d08"/>
              </a:rPr>
              <a:t>GitHub repository</a:t>
            </a:r>
          </a:p>
        </p:txBody>
      </p:sp>
      <p:pic>
        <p:nvPicPr>
          <p:cNvPr id="7" name="">
            <a:extLst xmlns:a="http://schemas.openxmlformats.org/drawingml/2006/main">
              <a:ext uri="{FF2B5EF4-FFF2-40B4-BE49-F238E27FC236}">
                <a16:creationId xmlns:a16="http://schemas.microsoft.com/office/drawing/2014/main" id="{FB5955E6-07F6-4394-B20D-B46D5BA47C97}"/>
              </a:ext>
            </a:extLst>
          </p:cNvPr>
          <p:cNvPicPr>
            <a:picLocks xmlns:a="http://schemas.openxmlformats.org/drawingml/2006/main" noChangeAspect="1"/>
          </p:cNvPicPr>
          <p:nvPr/>
        </p:nvPicPr>
        <p:blipFill>
          <a:blip xmlns:r="http://schemas.openxmlformats.org/officeDocument/2006/relationships" xmlns:a="http://schemas.openxmlformats.org/drawingml/2006/main" r:embed="R72beeb5793804215"/>
          <a:stretch xmlns:a="http://schemas.openxmlformats.org/drawingml/2006/main"/>
        </p:blipFill>
        <p:spPr>
          <a:xfrm xmlns:a="http://schemas.openxmlformats.org/drawingml/2006/main">
            <a:off x="685800" y="2040571"/>
            <a:ext cx="7810500" cy="4396108"/>
          </a:xfrm>
          <a:prstGeom xmlns:a="http://schemas.openxmlformats.org/drawingml/2006/main" prst="roundRect">
            <a:avLst>
              <a:gd name="adj" fmla="val 3896"/>
            </a:avLst>
          </a:prstGeom>
        </p:spPr>
      </p:pic>
      <p:sp>
        <p:nvSpPr>
          <p:cNvPr id="8" name="panel-20">
            <a:extLst xmlns:a="http://schemas.openxmlformats.org/drawingml/2006/main">
              <a:ext uri="{FF2B5EF4-FFF2-40B4-BE49-F238E27FC236}">
                <a16:creationId xmlns:a16="http://schemas.microsoft.com/office/drawing/2014/main" id="{90BB645D-047F-49D3-A106-7C538B1E14B4}"/>
              </a:ext>
            </a:extLst>
          </p:cNvPr>
          <p:cNvSpPr>
            <a:spLocks xmlns:a="http://schemas.openxmlformats.org/drawingml/2006/main" noGrp="1"/>
          </p:cNvSpPr>
          <p:nvPr/>
        </p:nvSpPr>
        <p:spPr>
          <a:xfrm xmlns:a="http://schemas.openxmlformats.org/drawingml/2006/main">
            <a:off x="8801100" y="2038350"/>
            <a:ext cx="5734050" cy="2647950"/>
          </a:xfrm>
          <a:prstGeom xmlns:a="http://schemas.openxmlformats.org/drawingml/2006/main" prst="roundRect">
            <a:avLst>
              <a:gd name="adj" fmla="val 7914"/>
            </a:avLst>
          </a:prstGeom>
          <a:solidFill xmlns:a="http://schemas.openxmlformats.org/drawingml/2006/main">
            <a:srgbClr val="EEF2F7"/>
          </a:solidFill>
          <a:ln xmlns:a="http://schemas.openxmlformats.org/drawingml/2006/main" w="0">
            <a:noFill/>
          </a:ln>
        </p:spPr>
      </p:sp>
      <p:sp>
        <p:nvSpPr>
          <p:cNvPr id="9" name="text-21">
            <a:extLst xmlns:a="http://schemas.openxmlformats.org/drawingml/2006/main">
              <a:ext uri="{FF2B5EF4-FFF2-40B4-BE49-F238E27FC236}">
                <a16:creationId xmlns:a16="http://schemas.microsoft.com/office/drawing/2014/main" id="{A8FD21EE-9C63-41F6-95E7-6D8A09E6112C}"/>
              </a:ext>
            </a:extLst>
          </p:cNvPr>
          <p:cNvSpPr>
            <a:spLocks xmlns:a="http://schemas.openxmlformats.org/drawingml/2006/main" noGrp="1"/>
          </p:cNvSpPr>
          <p:nvPr/>
        </p:nvSpPr>
        <p:spPr>
          <a:xfrm xmlns:a="http://schemas.openxmlformats.org/drawingml/2006/main">
            <a:off x="9086850" y="22860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Implemented</a:t>
            </a:r>
          </a:p>
        </p:txBody>
      </p:sp>
      <p:sp>
        <p:nvSpPr>
          <p:cNvPr id="10" name="text-22">
            <a:extLst xmlns:a="http://schemas.openxmlformats.org/drawingml/2006/main">
              <a:ext uri="{FF2B5EF4-FFF2-40B4-BE49-F238E27FC236}">
                <a16:creationId xmlns:a16="http://schemas.microsoft.com/office/drawing/2014/main" id="{FBA4637A-02C9-4A8B-B645-AD0D58A4F1C6}"/>
              </a:ext>
            </a:extLst>
          </p:cNvPr>
          <p:cNvSpPr>
            <a:spLocks xmlns:a="http://schemas.openxmlformats.org/drawingml/2006/main" noGrp="1"/>
          </p:cNvSpPr>
          <p:nvPr/>
        </p:nvSpPr>
        <p:spPr>
          <a:xfrm xmlns:a="http://schemas.openxmlformats.org/drawingml/2006/main">
            <a:off x="9086850" y="277177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Search and product filters</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Cart with quantity updates</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Validated checkout</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Supabase order storage</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Telegram order notifications</a:t>
            </a:r>
          </a:p>
        </p:txBody>
      </p:sp>
      <p:sp>
        <p:nvSpPr>
          <p:cNvPr id="11" name="text-23">
            <a:extLst xmlns:a="http://schemas.openxmlformats.org/drawingml/2006/main">
              <a:ext uri="{FF2B5EF4-FFF2-40B4-BE49-F238E27FC236}">
                <a16:creationId xmlns:a16="http://schemas.microsoft.com/office/drawing/2014/main" id="{3DFF4306-EF8D-4167-9688-B98F05DBDBE3}"/>
              </a:ext>
            </a:extLst>
          </p:cNvPr>
          <p:cNvSpPr>
            <a:spLocks xmlns:a="http://schemas.openxmlformats.org/drawingml/2006/main" noGrp="1"/>
          </p:cNvSpPr>
          <p:nvPr/>
        </p:nvSpPr>
        <p:spPr>
          <a:xfrm xmlns:a="http://schemas.openxmlformats.org/drawingml/2006/main">
            <a:off x="9086850" y="49530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Design decisions</a:t>
            </a:r>
          </a:p>
        </p:txBody>
      </p:sp>
      <p:sp>
        <p:nvSpPr>
          <p:cNvPr id="12" name="text-24">
            <a:extLst xmlns:a="http://schemas.openxmlformats.org/drawingml/2006/main">
              <a:ext uri="{FF2B5EF4-FFF2-40B4-BE49-F238E27FC236}">
                <a16:creationId xmlns:a16="http://schemas.microsoft.com/office/drawing/2014/main" id="{362C0258-0B9F-4862-AA62-73DB4C2E75B7}"/>
              </a:ext>
            </a:extLst>
          </p:cNvPr>
          <p:cNvSpPr>
            <a:spLocks xmlns:a="http://schemas.openxmlformats.org/drawingml/2006/main" noGrp="1"/>
          </p:cNvSpPr>
          <p:nvPr/>
        </p:nvSpPr>
        <p:spPr>
          <a:xfrm xmlns:a="http://schemas.openxmlformats.org/drawingml/2006/main">
            <a:off x="9086850" y="54292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2314A"/>
                </a:solidFill>
                <a:latin typeface="Lato"/>
                <a:ea typeface="Lato"/>
                <a:cs typeface="Lato"/>
              </a:defRPr>
            </a:defPPr>
          </a:lstStyle>
          <a:p xmlns:a="http://schemas.openxmlformats.org/drawingml/2006/main">
            <a:pPr>
              <a:defRPr sz="1950" b="0">
                <a:solidFill>
                  <a:srgbClr val="22314A"/>
                </a:solidFill>
                <a:latin typeface="Lato"/>
                <a:ea typeface="Lato"/>
                <a:cs typeface="Lato"/>
              </a:defRPr>
            </a:pPr>
            <a:r>
              <a:rPr sz="1950" b="0">
                <a:solidFill>
                  <a:srgbClr val="22314A"/>
                </a:solidFill>
                <a:latin typeface="Lato"/>
                <a:ea typeface="Lato"/>
                <a:cs typeface="Lato"/>
              </a:rPr>
              <a:t>Ukrainian interface for local shoppers</a:t>
            </a:r>
          </a:p>
          <a:p xmlns:a="http://schemas.openxmlformats.org/drawingml/2006/main">
            <a:pPr>
              <a:defRPr sz="1950" b="0">
                <a:solidFill>
                  <a:srgbClr val="22314A"/>
                </a:solidFill>
                <a:latin typeface="Lato"/>
                <a:ea typeface="Lato"/>
                <a:cs typeface="Lato"/>
              </a:defRPr>
            </a:pPr>
            <a:r>
              <a:rPr sz="1950" b="0">
                <a:solidFill>
                  <a:srgbClr val="22314A"/>
                </a:solidFill>
                <a:latin typeface="Lato"/>
                <a:ea typeface="Lato"/>
                <a:cs typeface="Lato"/>
              </a:rPr>
              <a:t>Responsive layout and clear product cards</a:t>
            </a:r>
          </a:p>
          <a:p xmlns:a="http://schemas.openxmlformats.org/drawingml/2006/main">
            <a:pPr>
              <a:defRPr sz="1950" b="0">
                <a:solidFill>
                  <a:srgbClr val="22314A"/>
                </a:solidFill>
                <a:latin typeface="Lato"/>
                <a:ea typeface="Lato"/>
                <a:cs typeface="Lato"/>
              </a:defRPr>
            </a:pPr>
            <a:r>
              <a:rPr sz="1950" b="0">
                <a:solidFill>
                  <a:srgbClr val="22314A"/>
                </a:solidFill>
                <a:latin typeface="Lato"/>
                <a:ea typeface="Lato"/>
                <a:cs typeface="Lato"/>
              </a:rPr>
              <a:t>Warm colours for gifts and home products</a:t>
            </a:r>
          </a:p>
        </p:txBody>
      </p:sp>
      <p:sp>
        <p:nvSpPr>
          <p:cNvPr id="13" name="panel-25">
            <a:extLst xmlns:a="http://schemas.openxmlformats.org/drawingml/2006/main">
              <a:ext uri="{FF2B5EF4-FFF2-40B4-BE49-F238E27FC236}">
                <a16:creationId xmlns:a16="http://schemas.microsoft.com/office/drawing/2014/main" id="{700AFFEC-4EBC-4761-A08A-D3759CDD2D90}"/>
              </a:ext>
            </a:extLst>
          </p:cNvPr>
          <p:cNvSpPr>
            <a:spLocks xmlns:a="http://schemas.openxmlformats.org/drawingml/2006/main" noGrp="1"/>
          </p:cNvSpPr>
          <p:nvPr/>
        </p:nvSpPr>
        <p:spPr>
          <a:xfrm xmlns:a="http://schemas.openxmlformats.org/drawingml/2006/main">
            <a:off x="685800" y="6762750"/>
            <a:ext cx="13849350" cy="704850"/>
          </a:xfrm>
          <a:prstGeom xmlns:a="http://schemas.openxmlformats.org/drawingml/2006/main" prst="roundRect">
            <a:avLst>
              <a:gd name="adj" fmla="val 21622"/>
            </a:avLst>
          </a:prstGeom>
          <a:solidFill xmlns:a="http://schemas.openxmlformats.org/drawingml/2006/main">
            <a:srgbClr val="F3EFE9"/>
          </a:solidFill>
          <a:ln xmlns:a="http://schemas.openxmlformats.org/drawingml/2006/main" w="0">
            <a:noFill/>
          </a:ln>
        </p:spPr>
      </p:sp>
      <p:sp>
        <p:nvSpPr>
          <p:cNvPr id="14" name="text-26">
            <a:extLst xmlns:a="http://schemas.openxmlformats.org/drawingml/2006/main">
              <a:ext uri="{FF2B5EF4-FFF2-40B4-BE49-F238E27FC236}">
                <a16:creationId xmlns:a16="http://schemas.microsoft.com/office/drawing/2014/main" id="{6D24994F-6747-4953-BD88-FB21418E28A0}"/>
              </a:ext>
            </a:extLst>
          </p:cNvPr>
          <p:cNvSpPr>
            <a:spLocks xmlns:a="http://schemas.openxmlformats.org/drawingml/2006/main" noGrp="1"/>
          </p:cNvSpPr>
          <p:nvPr/>
        </p:nvSpPr>
        <p:spPr>
          <a:xfrm xmlns:a="http://schemas.openxmlformats.org/drawingml/2006/main">
            <a:off x="914400" y="6962775"/>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2314A"/>
                </a:solidFill>
                <a:latin typeface="Lato"/>
                <a:ea typeface="Lato"/>
                <a:cs typeface="Lato"/>
              </a:defRPr>
            </a:defPPr>
          </a:lstStyle>
          <a:p xmlns:a="http://schemas.openxmlformats.org/drawingml/2006/main">
            <a:pPr>
              <a:defRPr sz="2025" b="0">
                <a:solidFill>
                  <a:srgbClr val="22314A"/>
                </a:solidFill>
                <a:latin typeface="Lato"/>
                <a:ea typeface="Lato"/>
                <a:cs typeface="Lato"/>
              </a:defRPr>
            </a:pPr>
            <a:r>
              <a:rPr sz="2025" b="0">
                <a:solidFill>
                  <a:srgbClr val="22314A"/>
                </a:solidFill>
                <a:latin typeface="Lato"/>
                <a:ea typeface="Lato"/>
                <a:cs typeface="Lato"/>
              </a:rPr>
              <a:t>Current limits: one language, JSON catalogue, manual bank transfer</a:t>
            </a:r>
          </a:p>
        </p:txBody>
      </p:sp>
    </p:spTree>
    <p:extLst>
      <p:ext uri="{BB962C8B-B14F-4D97-AF65-F5344CB8AC3E}">
        <p14:creationId xmlns:p14="http://schemas.microsoft.com/office/powerpoint/2010/main" val="195410880"/>
      </p:ext>
    </p:extLst>
  </p:cSld>
</p:sld>
</file>

<file path=ppt/slides/slide3.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48" name="panel-27">
            <a:extLst xmlns:a="http://schemas.openxmlformats.org/drawingml/2006/main">
              <a:ext uri="{FF2B5EF4-FFF2-40B4-BE49-F238E27FC236}">
                <a16:creationId xmlns:a16="http://schemas.microsoft.com/office/drawing/2014/main" id="{588A38B3-4590-4910-8D6C-86E7D27389F9}"/>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28">
            <a:extLst xmlns:a="http://schemas.openxmlformats.org/drawingml/2006/main">
              <a:ext uri="{FF2B5EF4-FFF2-40B4-BE49-F238E27FC236}">
                <a16:creationId xmlns:a16="http://schemas.microsoft.com/office/drawing/2014/main" id="{85BEBC7C-D727-49E1-B01D-8E9B1A60655D}"/>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29">
            <a:extLst xmlns:a="http://schemas.openxmlformats.org/drawingml/2006/main">
              <a:ext uri="{FF2B5EF4-FFF2-40B4-BE49-F238E27FC236}">
                <a16:creationId xmlns:a16="http://schemas.microsoft.com/office/drawing/2014/main" id="{7A064F29-D51F-40C7-8C0A-6296CD1F58DD}"/>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03 / 07     2:00</a:t>
            </a:r>
          </a:p>
        </p:txBody>
      </p:sp>
      <p:sp>
        <p:nvSpPr>
          <p:cNvPr id="4" name="text-30">
            <a:extLst xmlns:a="http://schemas.openxmlformats.org/drawingml/2006/main">
              <a:ext uri="{FF2B5EF4-FFF2-40B4-BE49-F238E27FC236}">
                <a16:creationId xmlns:a16="http://schemas.microsoft.com/office/drawing/2014/main" id="{F6D240D1-0497-4D90-98D6-B086AD79779C}"/>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Technical Architecture</a:t>
            </a:r>
          </a:p>
        </p:txBody>
      </p:sp>
      <p:sp>
        <p:nvSpPr>
          <p:cNvPr id="5" name="text-31">
            <a:extLst xmlns:a="http://schemas.openxmlformats.org/drawingml/2006/main">
              <a:ext uri="{FF2B5EF4-FFF2-40B4-BE49-F238E27FC236}">
                <a16:creationId xmlns:a16="http://schemas.microsoft.com/office/drawing/2014/main" id="{E71D1C3B-1C63-46C1-9773-4F1B2406E9DA}"/>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dff4729419dd4b0b"/>
              </a:rPr>
              <a:t>meloria.pp.ua</a:t>
            </a:r>
          </a:p>
        </p:txBody>
      </p:sp>
      <p:sp>
        <p:nvSpPr>
          <p:cNvPr id="6" name="text-32">
            <a:extLst xmlns:a="http://schemas.openxmlformats.org/drawingml/2006/main">
              <a:ext uri="{FF2B5EF4-FFF2-40B4-BE49-F238E27FC236}">
                <a16:creationId xmlns:a16="http://schemas.microsoft.com/office/drawing/2014/main" id="{6FF3836D-4E8B-4DFB-8BAF-A033188DACC7}"/>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465591bda5bd4e13"/>
              </a:rPr>
              <a:t>GitHub repository</a:t>
            </a:r>
          </a:p>
        </p:txBody>
      </p:sp>
      <p:sp>
        <p:nvSpPr>
          <p:cNvPr id="7" name="text-33">
            <a:extLst xmlns:a="http://schemas.openxmlformats.org/drawingml/2006/main">
              <a:ext uri="{FF2B5EF4-FFF2-40B4-BE49-F238E27FC236}">
                <a16:creationId xmlns:a16="http://schemas.microsoft.com/office/drawing/2014/main" id="{EEB66419-0745-4D7A-912C-7A035F7DCD44}"/>
              </a:ext>
            </a:extLst>
          </p:cNvPr>
          <p:cNvSpPr>
            <a:spLocks xmlns:a="http://schemas.openxmlformats.org/drawingml/2006/main" noGrp="1"/>
          </p:cNvSpPr>
          <p:nvPr/>
        </p:nvSpPr>
        <p:spPr>
          <a:xfrm xmlns:a="http://schemas.openxmlformats.org/drawingml/2006/main">
            <a:off x="685800" y="20002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Components &amp; state</a:t>
            </a:r>
          </a:p>
        </p:txBody>
      </p:sp>
      <p:sp>
        <p:nvSpPr>
          <p:cNvPr id="8" name="panel-34">
            <a:extLst xmlns:a="http://schemas.openxmlformats.org/drawingml/2006/main">
              <a:ext uri="{FF2B5EF4-FFF2-40B4-BE49-F238E27FC236}">
                <a16:creationId xmlns:a16="http://schemas.microsoft.com/office/drawing/2014/main" id="{7B0A5262-D220-4C46-9732-1E56FEEBCCB5}"/>
              </a:ext>
            </a:extLst>
          </p:cNvPr>
          <p:cNvSpPr>
            <a:spLocks xmlns:a="http://schemas.openxmlformats.org/drawingml/2006/main" noGrp="1"/>
          </p:cNvSpPr>
          <p:nvPr/>
        </p:nvSpPr>
        <p:spPr>
          <a:xfrm xmlns:a="http://schemas.openxmlformats.org/drawingml/2006/main">
            <a:off x="876300" y="2590800"/>
            <a:ext cx="1571625"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9" name="text-35">
            <a:extLst xmlns:a="http://schemas.openxmlformats.org/drawingml/2006/main">
              <a:ext uri="{FF2B5EF4-FFF2-40B4-BE49-F238E27FC236}">
                <a16:creationId xmlns:a16="http://schemas.microsoft.com/office/drawing/2014/main" id="{E3E2A2C9-D192-4E55-A639-37BFDD7D42C6}"/>
              </a:ext>
            </a:extLst>
          </p:cNvPr>
          <p:cNvSpPr>
            <a:spLocks xmlns:a="http://schemas.openxmlformats.org/drawingml/2006/main" noGrp="1"/>
          </p:cNvSpPr>
          <p:nvPr/>
        </p:nvSpPr>
        <p:spPr>
          <a:xfrm xmlns:a="http://schemas.openxmlformats.org/drawingml/2006/main">
            <a:off x="1028700" y="2752725"/>
            <a:ext cx="1266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App</a:t>
            </a:r>
          </a:p>
        </p:txBody>
      </p:sp>
      <p:sp>
        <p:nvSpPr>
          <p:cNvPr id="10" name="panel-36">
            <a:extLst xmlns:a="http://schemas.openxmlformats.org/drawingml/2006/main">
              <a:ext uri="{FF2B5EF4-FFF2-40B4-BE49-F238E27FC236}">
                <a16:creationId xmlns:a16="http://schemas.microsoft.com/office/drawing/2014/main" id="{E9E4B94E-2C9C-4539-AFDB-1FBB4CE8DCF1}"/>
              </a:ext>
            </a:extLst>
          </p:cNvPr>
          <p:cNvSpPr>
            <a:spLocks xmlns:a="http://schemas.openxmlformats.org/drawingml/2006/main" noGrp="1"/>
          </p:cNvSpPr>
          <p:nvPr/>
        </p:nvSpPr>
        <p:spPr>
          <a:xfrm xmlns:a="http://schemas.openxmlformats.org/drawingml/2006/main">
            <a:off x="3143250" y="2362200"/>
            <a:ext cx="2286000" cy="5334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noFill/>
          </a:ln>
        </p:spPr>
      </p:sp>
      <p:sp>
        <p:nvSpPr>
          <p:cNvPr id="11" name="text-37">
            <a:extLst xmlns:a="http://schemas.openxmlformats.org/drawingml/2006/main">
              <a:ext uri="{FF2B5EF4-FFF2-40B4-BE49-F238E27FC236}">
                <a16:creationId xmlns:a16="http://schemas.microsoft.com/office/drawing/2014/main" id="{022EC51C-2678-436D-96BC-D93929542970}"/>
              </a:ext>
            </a:extLst>
          </p:cNvPr>
          <p:cNvSpPr>
            <a:spLocks xmlns:a="http://schemas.openxmlformats.org/drawingml/2006/main" noGrp="1"/>
          </p:cNvSpPr>
          <p:nvPr/>
        </p:nvSpPr>
        <p:spPr>
          <a:xfrm xmlns:a="http://schemas.openxmlformats.org/drawingml/2006/main">
            <a:off x="3295650" y="252412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Header</a:t>
            </a:r>
          </a:p>
        </p:txBody>
      </p:sp>
      <p:cxnSp>
        <p:nvCxnSpPr>
          <p:cNvPr id="12" name="">
            <a:extLst xmlns:a="http://schemas.openxmlformats.org/drawingml/2006/main">
              <a:ext uri="{FF2B5EF4-FFF2-40B4-BE49-F238E27FC236}">
                <a16:creationId xmlns:a16="http://schemas.microsoft.com/office/drawing/2014/main" id="{93C4063F-F12D-4392-8477-00E9585F2C8D}"/>
              </a:ext>
            </a:extLst>
          </p:cNvPr>
          <p:cNvCxnSpPr>
            <a:stCxn xmlns:a="http://schemas.openxmlformats.org/drawingml/2006/main" id="8" idx="3"/>
            <a:endCxn xmlns:a="http://schemas.openxmlformats.org/drawingml/2006/main" id="10" idx="1"/>
          </p:cNvCxnSpPr>
          <p:nvPr/>
        </p:nvCxnSpPr>
        <p:spPr>
          <a:xfrm xmlns:a="http://schemas.openxmlformats.org/drawingml/2006/main" flipV="1">
            <a:off x="2447925" y="2628900"/>
            <a:ext cx="695325" cy="266700"/>
          </a:xfrm>
          <a:prstGeom xmlns:a="http://schemas.openxmlformats.org/drawingml/2006/main" prst="bentConnector3">
            <a:avLst>
              <a:gd name="adj1" fmla="val 50000"/>
            </a:avLst>
          </a:prstGeom>
          <a:ln xmlns:a="http://schemas.openxmlformats.org/drawingml/2006/main" w="19050">
            <a:solidFill>
              <a:srgbClr val="8693A6"/>
            </a:solidFill>
            <a:prstDash val="solid"/>
            <a:tailEnd type="triangle" w="sm" len="sm"/>
          </a:ln>
        </p:spPr>
      </p:cxnSp>
      <p:sp>
        <p:nvSpPr>
          <p:cNvPr id="13" name="panel-38">
            <a:extLst xmlns:a="http://schemas.openxmlformats.org/drawingml/2006/main">
              <a:ext uri="{FF2B5EF4-FFF2-40B4-BE49-F238E27FC236}">
                <a16:creationId xmlns:a16="http://schemas.microsoft.com/office/drawing/2014/main" id="{34946E78-6638-4FC9-A3F8-BA191F720E14}"/>
              </a:ext>
            </a:extLst>
          </p:cNvPr>
          <p:cNvSpPr>
            <a:spLocks xmlns:a="http://schemas.openxmlformats.org/drawingml/2006/main" noGrp="1"/>
          </p:cNvSpPr>
          <p:nvPr/>
        </p:nvSpPr>
        <p:spPr>
          <a:xfrm xmlns:a="http://schemas.openxmlformats.org/drawingml/2006/main">
            <a:off x="3143250" y="3028950"/>
            <a:ext cx="2286000" cy="5334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noFill/>
          </a:ln>
        </p:spPr>
      </p:sp>
      <p:sp>
        <p:nvSpPr>
          <p:cNvPr id="14" name="text-39">
            <a:extLst xmlns:a="http://schemas.openxmlformats.org/drawingml/2006/main">
              <a:ext uri="{FF2B5EF4-FFF2-40B4-BE49-F238E27FC236}">
                <a16:creationId xmlns:a16="http://schemas.microsoft.com/office/drawing/2014/main" id="{1F3C8D0E-330D-4775-BD6E-73C288AD662A}"/>
              </a:ext>
            </a:extLst>
          </p:cNvPr>
          <p:cNvSpPr>
            <a:spLocks xmlns:a="http://schemas.openxmlformats.org/drawingml/2006/main" noGrp="1"/>
          </p:cNvSpPr>
          <p:nvPr/>
        </p:nvSpPr>
        <p:spPr>
          <a:xfrm xmlns:a="http://schemas.openxmlformats.org/drawingml/2006/main">
            <a:off x="3295650" y="319087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Home</a:t>
            </a:r>
          </a:p>
        </p:txBody>
      </p:sp>
      <p:cxnSp>
        <p:nvCxnSpPr>
          <p:cNvPr id="15" name="">
            <a:extLst xmlns:a="http://schemas.openxmlformats.org/drawingml/2006/main">
              <a:ext uri="{FF2B5EF4-FFF2-40B4-BE49-F238E27FC236}">
                <a16:creationId xmlns:a16="http://schemas.microsoft.com/office/drawing/2014/main" id="{DAE45579-CC8D-4F6B-B2AF-69BDBC4C9A24}"/>
              </a:ext>
            </a:extLst>
          </p:cNvPr>
          <p:cNvCxnSpPr>
            <a:stCxn xmlns:a="http://schemas.openxmlformats.org/drawingml/2006/main" id="8" idx="3"/>
            <a:endCxn xmlns:a="http://schemas.openxmlformats.org/drawingml/2006/main" id="13" idx="1"/>
          </p:cNvCxnSpPr>
          <p:nvPr/>
        </p:nvCxnSpPr>
        <p:spPr>
          <a:xfrm xmlns:a="http://schemas.openxmlformats.org/drawingml/2006/main">
            <a:off x="2447925" y="2895600"/>
            <a:ext cx="695325" cy="400050"/>
          </a:xfrm>
          <a:prstGeom xmlns:a="http://schemas.openxmlformats.org/drawingml/2006/main" prst="bentConnector3">
            <a:avLst>
              <a:gd name="adj1" fmla="val 50000"/>
            </a:avLst>
          </a:prstGeom>
          <a:ln xmlns:a="http://schemas.openxmlformats.org/drawingml/2006/main" w="19050">
            <a:solidFill>
              <a:srgbClr val="8693A6"/>
            </a:solidFill>
            <a:prstDash val="solid"/>
            <a:tailEnd type="triangle" w="sm" len="sm"/>
          </a:ln>
        </p:spPr>
      </p:cxnSp>
      <p:sp>
        <p:nvSpPr>
          <p:cNvPr id="16" name="panel-40">
            <a:extLst xmlns:a="http://schemas.openxmlformats.org/drawingml/2006/main">
              <a:ext uri="{FF2B5EF4-FFF2-40B4-BE49-F238E27FC236}">
                <a16:creationId xmlns:a16="http://schemas.microsoft.com/office/drawing/2014/main" id="{CEE27DCA-647E-4051-AFAB-2E6DBBD0E4A3}"/>
              </a:ext>
            </a:extLst>
          </p:cNvPr>
          <p:cNvSpPr>
            <a:spLocks xmlns:a="http://schemas.openxmlformats.org/drawingml/2006/main" noGrp="1"/>
          </p:cNvSpPr>
          <p:nvPr/>
        </p:nvSpPr>
        <p:spPr>
          <a:xfrm xmlns:a="http://schemas.openxmlformats.org/drawingml/2006/main">
            <a:off x="3143250" y="3695700"/>
            <a:ext cx="2286000" cy="5334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noFill/>
          </a:ln>
        </p:spPr>
      </p:sp>
      <p:sp>
        <p:nvSpPr>
          <p:cNvPr id="17" name="text-41">
            <a:extLst xmlns:a="http://schemas.openxmlformats.org/drawingml/2006/main">
              <a:ext uri="{FF2B5EF4-FFF2-40B4-BE49-F238E27FC236}">
                <a16:creationId xmlns:a16="http://schemas.microsoft.com/office/drawing/2014/main" id="{5CE86D3D-BEE3-473D-80F4-0247691028E5}"/>
              </a:ext>
            </a:extLst>
          </p:cNvPr>
          <p:cNvSpPr>
            <a:spLocks xmlns:a="http://schemas.openxmlformats.org/drawingml/2006/main" noGrp="1"/>
          </p:cNvSpPr>
          <p:nvPr/>
        </p:nvSpPr>
        <p:spPr>
          <a:xfrm xmlns:a="http://schemas.openxmlformats.org/drawingml/2006/main">
            <a:off x="3295650" y="385762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Checkout</a:t>
            </a:r>
          </a:p>
        </p:txBody>
      </p:sp>
      <p:cxnSp>
        <p:nvCxnSpPr>
          <p:cNvPr id="18" name="">
            <a:extLst xmlns:a="http://schemas.openxmlformats.org/drawingml/2006/main">
              <a:ext uri="{FF2B5EF4-FFF2-40B4-BE49-F238E27FC236}">
                <a16:creationId xmlns:a16="http://schemas.microsoft.com/office/drawing/2014/main" id="{D2A921DF-F218-4DCA-8F4D-92D351D6E9D4}"/>
              </a:ext>
            </a:extLst>
          </p:cNvPr>
          <p:cNvCxnSpPr>
            <a:stCxn xmlns:a="http://schemas.openxmlformats.org/drawingml/2006/main" id="8" idx="3"/>
            <a:endCxn xmlns:a="http://schemas.openxmlformats.org/drawingml/2006/main" id="16" idx="1"/>
          </p:cNvCxnSpPr>
          <p:nvPr/>
        </p:nvCxnSpPr>
        <p:spPr>
          <a:xfrm xmlns:a="http://schemas.openxmlformats.org/drawingml/2006/main">
            <a:off x="2447925" y="2895600"/>
            <a:ext cx="695325" cy="1066800"/>
          </a:xfrm>
          <a:prstGeom xmlns:a="http://schemas.openxmlformats.org/drawingml/2006/main" prst="bentConnector3">
            <a:avLst>
              <a:gd name="adj1" fmla="val 50000"/>
            </a:avLst>
          </a:prstGeom>
          <a:ln xmlns:a="http://schemas.openxmlformats.org/drawingml/2006/main" w="19050">
            <a:solidFill>
              <a:srgbClr val="8693A6"/>
            </a:solidFill>
            <a:prstDash val="solid"/>
            <a:tailEnd type="triangle" w="sm" len="sm"/>
          </a:ln>
        </p:spPr>
      </p:cxnSp>
      <p:sp>
        <p:nvSpPr>
          <p:cNvPr id="19" name="panel-42">
            <a:extLst xmlns:a="http://schemas.openxmlformats.org/drawingml/2006/main">
              <a:ext uri="{FF2B5EF4-FFF2-40B4-BE49-F238E27FC236}">
                <a16:creationId xmlns:a16="http://schemas.microsoft.com/office/drawing/2014/main" id="{6624BF0D-1E14-4C1D-BBA0-46BE94B5CF66}"/>
              </a:ext>
            </a:extLst>
          </p:cNvPr>
          <p:cNvSpPr>
            <a:spLocks xmlns:a="http://schemas.openxmlformats.org/drawingml/2006/main" noGrp="1"/>
          </p:cNvSpPr>
          <p:nvPr/>
        </p:nvSpPr>
        <p:spPr>
          <a:xfrm xmlns:a="http://schemas.openxmlformats.org/drawingml/2006/main">
            <a:off x="3143250" y="4362450"/>
            <a:ext cx="2286000" cy="5334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noFill/>
          </a:ln>
        </p:spPr>
      </p:sp>
      <p:sp>
        <p:nvSpPr>
          <p:cNvPr id="20" name="text-43">
            <a:extLst xmlns:a="http://schemas.openxmlformats.org/drawingml/2006/main">
              <a:ext uri="{FF2B5EF4-FFF2-40B4-BE49-F238E27FC236}">
                <a16:creationId xmlns:a16="http://schemas.microsoft.com/office/drawing/2014/main" id="{36B29048-339D-42FF-9A0C-11B5B0D6B3F3}"/>
              </a:ext>
            </a:extLst>
          </p:cNvPr>
          <p:cNvSpPr>
            <a:spLocks xmlns:a="http://schemas.openxmlformats.org/drawingml/2006/main" noGrp="1"/>
          </p:cNvSpPr>
          <p:nvPr/>
        </p:nvSpPr>
        <p:spPr>
          <a:xfrm xmlns:a="http://schemas.openxmlformats.org/drawingml/2006/main">
            <a:off x="3295650" y="452437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CartDrawer</a:t>
            </a:r>
          </a:p>
        </p:txBody>
      </p:sp>
      <p:cxnSp>
        <p:nvCxnSpPr>
          <p:cNvPr id="21" name="">
            <a:extLst xmlns:a="http://schemas.openxmlformats.org/drawingml/2006/main">
              <a:ext uri="{FF2B5EF4-FFF2-40B4-BE49-F238E27FC236}">
                <a16:creationId xmlns:a16="http://schemas.microsoft.com/office/drawing/2014/main" id="{BBA6077E-D92A-426C-B557-CD04CFC1C7A6}"/>
              </a:ext>
            </a:extLst>
          </p:cNvPr>
          <p:cNvCxnSpPr>
            <a:stCxn xmlns:a="http://schemas.openxmlformats.org/drawingml/2006/main" id="8" idx="3"/>
            <a:endCxn xmlns:a="http://schemas.openxmlformats.org/drawingml/2006/main" id="19" idx="1"/>
          </p:cNvCxnSpPr>
          <p:nvPr/>
        </p:nvCxnSpPr>
        <p:spPr>
          <a:xfrm xmlns:a="http://schemas.openxmlformats.org/drawingml/2006/main">
            <a:off x="2447925" y="2895600"/>
            <a:ext cx="695325" cy="1733550"/>
          </a:xfrm>
          <a:prstGeom xmlns:a="http://schemas.openxmlformats.org/drawingml/2006/main" prst="bentConnector3">
            <a:avLst>
              <a:gd name="adj1" fmla="val 50000"/>
            </a:avLst>
          </a:prstGeom>
          <a:ln xmlns:a="http://schemas.openxmlformats.org/drawingml/2006/main" w="19050">
            <a:solidFill>
              <a:srgbClr val="8693A6"/>
            </a:solidFill>
            <a:prstDash val="solid"/>
            <a:tailEnd type="triangle" w="sm" len="sm"/>
          </a:ln>
        </p:spPr>
      </p:cxnSp>
      <p:sp>
        <p:nvSpPr>
          <p:cNvPr id="22" name="panel-44">
            <a:extLst xmlns:a="http://schemas.openxmlformats.org/drawingml/2006/main">
              <a:ext uri="{FF2B5EF4-FFF2-40B4-BE49-F238E27FC236}">
                <a16:creationId xmlns:a16="http://schemas.microsoft.com/office/drawing/2014/main" id="{5024BB97-C3DE-4CEF-A7DC-0510FF1DCF20}"/>
              </a:ext>
            </a:extLst>
          </p:cNvPr>
          <p:cNvSpPr>
            <a:spLocks xmlns:a="http://schemas.openxmlformats.org/drawingml/2006/main" noGrp="1"/>
          </p:cNvSpPr>
          <p:nvPr/>
        </p:nvSpPr>
        <p:spPr>
          <a:xfrm xmlns:a="http://schemas.openxmlformats.org/drawingml/2006/main">
            <a:off x="3143250" y="5029200"/>
            <a:ext cx="2286000" cy="533400"/>
          </a:xfrm>
          <a:prstGeom xmlns:a="http://schemas.openxmlformats.org/drawingml/2006/main" prst="roundRect">
            <a:avLst>
              <a:gd name="adj" fmla="val 25000"/>
            </a:avLst>
          </a:prstGeom>
          <a:solidFill xmlns:a="http://schemas.openxmlformats.org/drawingml/2006/main">
            <a:srgbClr val="EEF2F7"/>
          </a:solidFill>
          <a:ln xmlns:a="http://schemas.openxmlformats.org/drawingml/2006/main" w="0">
            <a:noFill/>
          </a:ln>
        </p:spPr>
      </p:sp>
      <p:sp>
        <p:nvSpPr>
          <p:cNvPr id="23" name="text-45">
            <a:extLst xmlns:a="http://schemas.openxmlformats.org/drawingml/2006/main">
              <a:ext uri="{FF2B5EF4-FFF2-40B4-BE49-F238E27FC236}">
                <a16:creationId xmlns:a16="http://schemas.microsoft.com/office/drawing/2014/main" id="{5A77F604-E5E2-482A-8BFD-FCFA832D70A7}"/>
              </a:ext>
            </a:extLst>
          </p:cNvPr>
          <p:cNvSpPr>
            <a:spLocks xmlns:a="http://schemas.openxmlformats.org/drawingml/2006/main" noGrp="1"/>
          </p:cNvSpPr>
          <p:nvPr/>
        </p:nvSpPr>
        <p:spPr>
          <a:xfrm xmlns:a="http://schemas.openxmlformats.org/drawingml/2006/main">
            <a:off x="3295650" y="5191125"/>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Footer</a:t>
            </a:r>
          </a:p>
        </p:txBody>
      </p:sp>
      <p:cxnSp>
        <p:nvCxnSpPr>
          <p:cNvPr id="24" name="">
            <a:extLst xmlns:a="http://schemas.openxmlformats.org/drawingml/2006/main">
              <a:ext uri="{FF2B5EF4-FFF2-40B4-BE49-F238E27FC236}">
                <a16:creationId xmlns:a16="http://schemas.microsoft.com/office/drawing/2014/main" id="{5A079E67-63E2-42A9-958F-67E5A3C45D3D}"/>
              </a:ext>
            </a:extLst>
          </p:cNvPr>
          <p:cNvCxnSpPr>
            <a:stCxn xmlns:a="http://schemas.openxmlformats.org/drawingml/2006/main" id="8" idx="3"/>
            <a:endCxn xmlns:a="http://schemas.openxmlformats.org/drawingml/2006/main" id="22" idx="1"/>
          </p:cNvCxnSpPr>
          <p:nvPr/>
        </p:nvCxnSpPr>
        <p:spPr>
          <a:xfrm xmlns:a="http://schemas.openxmlformats.org/drawingml/2006/main">
            <a:off x="2447925" y="2895600"/>
            <a:ext cx="695325" cy="2400300"/>
          </a:xfrm>
          <a:prstGeom xmlns:a="http://schemas.openxmlformats.org/drawingml/2006/main" prst="bentConnector3">
            <a:avLst>
              <a:gd name="adj1" fmla="val 50000"/>
            </a:avLst>
          </a:prstGeom>
          <a:ln xmlns:a="http://schemas.openxmlformats.org/drawingml/2006/main" w="19050">
            <a:solidFill>
              <a:srgbClr val="8693A6"/>
            </a:solidFill>
            <a:prstDash val="solid"/>
            <a:tailEnd type="triangle" w="sm" len="sm"/>
          </a:ln>
        </p:spPr>
      </p:cxnSp>
      <p:sp>
        <p:nvSpPr>
          <p:cNvPr id="25" name="text-46">
            <a:extLst xmlns:a="http://schemas.openxmlformats.org/drawingml/2006/main">
              <a:ext uri="{FF2B5EF4-FFF2-40B4-BE49-F238E27FC236}">
                <a16:creationId xmlns:a16="http://schemas.microsoft.com/office/drawing/2014/main" id="{12376E79-6023-40B4-8805-D06BBCF1A438}"/>
              </a:ext>
            </a:extLst>
          </p:cNvPr>
          <p:cNvSpPr>
            <a:spLocks xmlns:a="http://schemas.openxmlformats.org/drawingml/2006/main" noGrp="1"/>
          </p:cNvSpPr>
          <p:nvPr/>
        </p:nvSpPr>
        <p:spPr>
          <a:xfrm xmlns:a="http://schemas.openxmlformats.org/drawingml/2006/main">
            <a:off x="876300" y="59721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2314A"/>
                </a:solidFill>
                <a:latin typeface="Lato"/>
                <a:ea typeface="Lato"/>
                <a:cs typeface="Lato"/>
              </a:defRPr>
            </a:defPPr>
          </a:lstStyle>
          <a:p xmlns:a="http://schemas.openxmlformats.org/drawingml/2006/main">
            <a:pPr>
              <a:defRPr sz="1875" b="0">
                <a:solidFill>
                  <a:srgbClr val="22314A"/>
                </a:solidFill>
                <a:latin typeface="Lato"/>
                <a:ea typeface="Lato"/>
                <a:cs typeface="Lato"/>
              </a:defRPr>
            </a:pPr>
            <a:r>
              <a:rPr sz="1875" b="0">
                <a:solidFill>
                  <a:srgbClr val="22314A"/>
                </a:solidFill>
                <a:latin typeface="Lato"/>
                <a:ea typeface="Lato"/>
                <a:cs typeface="Lato"/>
              </a:rPr>
              <a:t>Home renders ProductCard components.</a:t>
            </a:r>
          </a:p>
        </p:txBody>
      </p:sp>
      <p:sp>
        <p:nvSpPr>
          <p:cNvPr id="26" name="panel-47">
            <a:extLst xmlns:a="http://schemas.openxmlformats.org/drawingml/2006/main">
              <a:ext uri="{FF2B5EF4-FFF2-40B4-BE49-F238E27FC236}">
                <a16:creationId xmlns:a16="http://schemas.microsoft.com/office/drawing/2014/main" id="{BEB40192-C713-4D97-833A-F7CCC208570A}"/>
              </a:ext>
            </a:extLst>
          </p:cNvPr>
          <p:cNvSpPr>
            <a:spLocks xmlns:a="http://schemas.openxmlformats.org/drawingml/2006/main" noGrp="1"/>
          </p:cNvSpPr>
          <p:nvPr/>
        </p:nvSpPr>
        <p:spPr>
          <a:xfrm xmlns:a="http://schemas.openxmlformats.org/drawingml/2006/main">
            <a:off x="685800" y="6686550"/>
            <a:ext cx="5181600" cy="790575"/>
          </a:xfrm>
          <a:prstGeom xmlns:a="http://schemas.openxmlformats.org/drawingml/2006/main" prst="roundRect">
            <a:avLst>
              <a:gd name="adj" fmla="val 18072"/>
            </a:avLst>
          </a:prstGeom>
          <a:solidFill xmlns:a="http://schemas.openxmlformats.org/drawingml/2006/main">
            <a:srgbClr val="F3EFE9"/>
          </a:solidFill>
          <a:ln xmlns:a="http://schemas.openxmlformats.org/drawingml/2006/main" w="0">
            <a:noFill/>
          </a:ln>
        </p:spPr>
      </p:sp>
      <p:sp>
        <p:nvSpPr>
          <p:cNvPr id="27" name="text-48">
            <a:extLst xmlns:a="http://schemas.openxmlformats.org/drawingml/2006/main">
              <a:ext uri="{FF2B5EF4-FFF2-40B4-BE49-F238E27FC236}">
                <a16:creationId xmlns:a16="http://schemas.microsoft.com/office/drawing/2014/main" id="{FBA6CDDA-5057-4FB9-B668-2F1782D3FBC9}"/>
              </a:ext>
            </a:extLst>
          </p:cNvPr>
          <p:cNvSpPr>
            <a:spLocks xmlns:a="http://schemas.openxmlformats.org/drawingml/2006/main" noGrp="1"/>
          </p:cNvSpPr>
          <p:nvPr/>
        </p:nvSpPr>
        <p:spPr>
          <a:xfrm xmlns:a="http://schemas.openxmlformats.org/drawingml/2006/main">
            <a:off x="876300" y="6810375"/>
            <a:ext cx="4800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Cart Context shares cart data</a:t>
            </a:r>
          </a:p>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localStorage keeps it after refresh</a:t>
            </a:r>
          </a:p>
        </p:txBody>
      </p:sp>
      <p:sp>
        <p:nvSpPr>
          <p:cNvPr id="28" name="text-49">
            <a:extLst xmlns:a="http://schemas.openxmlformats.org/drawingml/2006/main">
              <a:ext uri="{FF2B5EF4-FFF2-40B4-BE49-F238E27FC236}">
                <a16:creationId xmlns:a16="http://schemas.microsoft.com/office/drawing/2014/main" id="{D03B017B-26FD-4E70-8B45-E66D7CF2F909}"/>
              </a:ext>
            </a:extLst>
          </p:cNvPr>
          <p:cNvSpPr>
            <a:spLocks xmlns:a="http://schemas.openxmlformats.org/drawingml/2006/main" noGrp="1"/>
          </p:cNvSpPr>
          <p:nvPr/>
        </p:nvSpPr>
        <p:spPr>
          <a:xfrm xmlns:a="http://schemas.openxmlformats.org/drawingml/2006/main">
            <a:off x="6572250" y="200025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Data flow</a:t>
            </a:r>
          </a:p>
        </p:txBody>
      </p:sp>
      <p:sp>
        <p:nvSpPr>
          <p:cNvPr id="29" name="panel-50">
            <a:extLst xmlns:a="http://schemas.openxmlformats.org/drawingml/2006/main">
              <a:ext uri="{FF2B5EF4-FFF2-40B4-BE49-F238E27FC236}">
                <a16:creationId xmlns:a16="http://schemas.microsoft.com/office/drawing/2014/main" id="{936C2BCB-3196-42D4-95A4-2AB1DD6FBFAF}"/>
              </a:ext>
            </a:extLst>
          </p:cNvPr>
          <p:cNvSpPr>
            <a:spLocks xmlns:a="http://schemas.openxmlformats.org/drawingml/2006/main" noGrp="1"/>
          </p:cNvSpPr>
          <p:nvPr/>
        </p:nvSpPr>
        <p:spPr>
          <a:xfrm xmlns:a="http://schemas.openxmlformats.org/drawingml/2006/main">
            <a:off x="6572250" y="2571750"/>
            <a:ext cx="2076450"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30" name="text-51">
            <a:extLst xmlns:a="http://schemas.openxmlformats.org/drawingml/2006/main">
              <a:ext uri="{FF2B5EF4-FFF2-40B4-BE49-F238E27FC236}">
                <a16:creationId xmlns:a16="http://schemas.microsoft.com/office/drawing/2014/main" id="{C13239AB-5BE1-470B-8E3E-9AE02222207F}"/>
              </a:ext>
            </a:extLst>
          </p:cNvPr>
          <p:cNvSpPr>
            <a:spLocks xmlns:a="http://schemas.openxmlformats.org/drawingml/2006/main" noGrp="1"/>
          </p:cNvSpPr>
          <p:nvPr/>
        </p:nvSpPr>
        <p:spPr>
          <a:xfrm xmlns:a="http://schemas.openxmlformats.org/drawingml/2006/main">
            <a:off x="6724650" y="2733675"/>
            <a:ext cx="1771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products.json</a:t>
            </a:r>
          </a:p>
        </p:txBody>
      </p:sp>
      <p:sp>
        <p:nvSpPr>
          <p:cNvPr id="31" name="panel-52">
            <a:extLst xmlns:a="http://schemas.openxmlformats.org/drawingml/2006/main">
              <a:ext uri="{FF2B5EF4-FFF2-40B4-BE49-F238E27FC236}">
                <a16:creationId xmlns:a16="http://schemas.microsoft.com/office/drawing/2014/main" id="{FF1CC98A-3510-424E-AE88-598BA199E8E2}"/>
              </a:ext>
            </a:extLst>
          </p:cNvPr>
          <p:cNvSpPr>
            <a:spLocks xmlns:a="http://schemas.openxmlformats.org/drawingml/2006/main" noGrp="1"/>
          </p:cNvSpPr>
          <p:nvPr/>
        </p:nvSpPr>
        <p:spPr>
          <a:xfrm xmlns:a="http://schemas.openxmlformats.org/drawingml/2006/main">
            <a:off x="9525000" y="2571750"/>
            <a:ext cx="2095500"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32" name="text-53">
            <a:extLst xmlns:a="http://schemas.openxmlformats.org/drawingml/2006/main">
              <a:ext uri="{FF2B5EF4-FFF2-40B4-BE49-F238E27FC236}">
                <a16:creationId xmlns:a16="http://schemas.microsoft.com/office/drawing/2014/main" id="{C90DCC36-EB09-46AC-9583-53A4531D2FB4}"/>
              </a:ext>
            </a:extLst>
          </p:cNvPr>
          <p:cNvSpPr>
            <a:spLocks xmlns:a="http://schemas.openxmlformats.org/drawingml/2006/main" noGrp="1"/>
          </p:cNvSpPr>
          <p:nvPr/>
        </p:nvSpPr>
        <p:spPr>
          <a:xfrm xmlns:a="http://schemas.openxmlformats.org/drawingml/2006/main">
            <a:off x="9677400" y="2733675"/>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Catalogue</a:t>
            </a:r>
          </a:p>
        </p:txBody>
      </p:sp>
      <p:cxnSp>
        <p:nvCxnSpPr>
          <p:cNvPr id="33" name="">
            <a:extLst xmlns:a="http://schemas.openxmlformats.org/drawingml/2006/main">
              <a:ext uri="{FF2B5EF4-FFF2-40B4-BE49-F238E27FC236}">
                <a16:creationId xmlns:a16="http://schemas.microsoft.com/office/drawing/2014/main" id="{DD1F6CA2-1F11-4586-9371-9684CDFB1BFD}"/>
              </a:ext>
            </a:extLst>
          </p:cNvPr>
          <p:cNvCxnSpPr>
            <a:stCxn xmlns:a="http://schemas.openxmlformats.org/drawingml/2006/main" id="29" idx="3"/>
            <a:endCxn xmlns:a="http://schemas.openxmlformats.org/drawingml/2006/main" id="31" idx="1"/>
          </p:cNvCxnSpPr>
          <p:nvPr/>
        </p:nvCxnSpPr>
        <p:spPr>
          <a:xfrm xmlns:a="http://schemas.openxmlformats.org/drawingml/2006/main">
            <a:off x="8648700" y="2876550"/>
            <a:ext cx="876300" cy="0"/>
          </a:xfrm>
          <a:prstGeom xmlns:a="http://schemas.openxmlformats.org/drawingml/2006/main" prst="straightConnector1">
            <a:avLst/>
          </a:prstGeom>
          <a:ln xmlns:a="http://schemas.openxmlformats.org/drawingml/2006/main" w="19050">
            <a:solidFill>
              <a:srgbClr val="8693A6"/>
            </a:solidFill>
            <a:prstDash val="solid"/>
            <a:tailEnd type="triangle" w="sm" len="sm"/>
          </a:ln>
        </p:spPr>
      </p:cxnSp>
      <p:sp>
        <p:nvSpPr>
          <p:cNvPr id="34" name="panel-54">
            <a:extLst xmlns:a="http://schemas.openxmlformats.org/drawingml/2006/main">
              <a:ext uri="{FF2B5EF4-FFF2-40B4-BE49-F238E27FC236}">
                <a16:creationId xmlns:a16="http://schemas.microsoft.com/office/drawing/2014/main" id="{B8983D47-4402-4208-A310-6FBBFB367EFD}"/>
              </a:ext>
            </a:extLst>
          </p:cNvPr>
          <p:cNvSpPr>
            <a:spLocks xmlns:a="http://schemas.openxmlformats.org/drawingml/2006/main" noGrp="1"/>
          </p:cNvSpPr>
          <p:nvPr/>
        </p:nvSpPr>
        <p:spPr>
          <a:xfrm xmlns:a="http://schemas.openxmlformats.org/drawingml/2006/main">
            <a:off x="6572250" y="3552825"/>
            <a:ext cx="2000250"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35" name="text-55">
            <a:extLst xmlns:a="http://schemas.openxmlformats.org/drawingml/2006/main">
              <a:ext uri="{FF2B5EF4-FFF2-40B4-BE49-F238E27FC236}">
                <a16:creationId xmlns:a16="http://schemas.microsoft.com/office/drawing/2014/main" id="{B56ABD0D-6874-418E-B317-FE60C5841783}"/>
              </a:ext>
            </a:extLst>
          </p:cNvPr>
          <p:cNvSpPr>
            <a:spLocks xmlns:a="http://schemas.openxmlformats.org/drawingml/2006/main" noGrp="1"/>
          </p:cNvSpPr>
          <p:nvPr/>
        </p:nvSpPr>
        <p:spPr>
          <a:xfrm xmlns:a="http://schemas.openxmlformats.org/drawingml/2006/main">
            <a:off x="6724650" y="3714750"/>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Checkout</a:t>
            </a:r>
          </a:p>
        </p:txBody>
      </p:sp>
      <p:sp>
        <p:nvSpPr>
          <p:cNvPr id="36" name="panel-56">
            <a:extLst xmlns:a="http://schemas.openxmlformats.org/drawingml/2006/main">
              <a:ext uri="{FF2B5EF4-FFF2-40B4-BE49-F238E27FC236}">
                <a16:creationId xmlns:a16="http://schemas.microsoft.com/office/drawing/2014/main" id="{2C97A582-2B52-408D-B41C-F45D904B8D5E}"/>
              </a:ext>
            </a:extLst>
          </p:cNvPr>
          <p:cNvSpPr>
            <a:spLocks xmlns:a="http://schemas.openxmlformats.org/drawingml/2006/main" noGrp="1"/>
          </p:cNvSpPr>
          <p:nvPr/>
        </p:nvSpPr>
        <p:spPr>
          <a:xfrm xmlns:a="http://schemas.openxmlformats.org/drawingml/2006/main">
            <a:off x="9458325" y="3552825"/>
            <a:ext cx="2286000"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37" name="text-57">
            <a:extLst xmlns:a="http://schemas.openxmlformats.org/drawingml/2006/main">
              <a:ext uri="{FF2B5EF4-FFF2-40B4-BE49-F238E27FC236}">
                <a16:creationId xmlns:a16="http://schemas.microsoft.com/office/drawing/2014/main" id="{977723E3-98E8-4F0A-9755-2A5793266AAB}"/>
              </a:ext>
            </a:extLst>
          </p:cNvPr>
          <p:cNvSpPr>
            <a:spLocks xmlns:a="http://schemas.openxmlformats.org/drawingml/2006/main" noGrp="1"/>
          </p:cNvSpPr>
          <p:nvPr/>
        </p:nvSpPr>
        <p:spPr>
          <a:xfrm xmlns:a="http://schemas.openxmlformats.org/drawingml/2006/main">
            <a:off x="9610725" y="3714750"/>
            <a:ext cx="1981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/api/orders</a:t>
            </a:r>
          </a:p>
        </p:txBody>
      </p:sp>
      <p:cxnSp>
        <p:nvCxnSpPr>
          <p:cNvPr id="38" name="">
            <a:extLst xmlns:a="http://schemas.openxmlformats.org/drawingml/2006/main">
              <a:ext uri="{FF2B5EF4-FFF2-40B4-BE49-F238E27FC236}">
                <a16:creationId xmlns:a16="http://schemas.microsoft.com/office/drawing/2014/main" id="{4EE6FC20-4B0E-4A72-A42F-B9A7E11DF41D}"/>
              </a:ext>
            </a:extLst>
          </p:cNvPr>
          <p:cNvCxnSpPr>
            <a:stCxn xmlns:a="http://schemas.openxmlformats.org/drawingml/2006/main" id="34" idx="3"/>
            <a:endCxn xmlns:a="http://schemas.openxmlformats.org/drawingml/2006/main" id="36" idx="1"/>
          </p:cNvCxnSpPr>
          <p:nvPr/>
        </p:nvCxnSpPr>
        <p:spPr>
          <a:xfrm xmlns:a="http://schemas.openxmlformats.org/drawingml/2006/main">
            <a:off x="8572500" y="3857625"/>
            <a:ext cx="885825" cy="0"/>
          </a:xfrm>
          <a:prstGeom xmlns:a="http://schemas.openxmlformats.org/drawingml/2006/main" prst="straightConnector1">
            <a:avLst/>
          </a:prstGeom>
          <a:ln xmlns:a="http://schemas.openxmlformats.org/drawingml/2006/main" w="19050">
            <a:solidFill>
              <a:srgbClr val="8693A6"/>
            </a:solidFill>
            <a:prstDash val="solid"/>
            <a:tailEnd type="triangle" w="sm" len="sm"/>
          </a:ln>
        </p:spPr>
      </p:cxnSp>
      <p:sp>
        <p:nvSpPr>
          <p:cNvPr id="39" name="panel-58">
            <a:extLst xmlns:a="http://schemas.openxmlformats.org/drawingml/2006/main">
              <a:ext uri="{FF2B5EF4-FFF2-40B4-BE49-F238E27FC236}">
                <a16:creationId xmlns:a16="http://schemas.microsoft.com/office/drawing/2014/main" id="{1755C5CF-52B9-4B56-B956-4A8EDB11DC12}"/>
              </a:ext>
            </a:extLst>
          </p:cNvPr>
          <p:cNvSpPr>
            <a:spLocks xmlns:a="http://schemas.openxmlformats.org/drawingml/2006/main" noGrp="1"/>
          </p:cNvSpPr>
          <p:nvPr/>
        </p:nvSpPr>
        <p:spPr>
          <a:xfrm xmlns:a="http://schemas.openxmlformats.org/drawingml/2006/main">
            <a:off x="12477750" y="3552825"/>
            <a:ext cx="2047875"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40" name="text-59">
            <a:extLst xmlns:a="http://schemas.openxmlformats.org/drawingml/2006/main">
              <a:ext uri="{FF2B5EF4-FFF2-40B4-BE49-F238E27FC236}">
                <a16:creationId xmlns:a16="http://schemas.microsoft.com/office/drawing/2014/main" id="{53BA8D84-463C-4904-AB46-ABAEF6F520F8}"/>
              </a:ext>
            </a:extLst>
          </p:cNvPr>
          <p:cNvSpPr>
            <a:spLocks xmlns:a="http://schemas.openxmlformats.org/drawingml/2006/main" noGrp="1"/>
          </p:cNvSpPr>
          <p:nvPr/>
        </p:nvSpPr>
        <p:spPr>
          <a:xfrm xmlns:a="http://schemas.openxmlformats.org/drawingml/2006/main">
            <a:off x="12630150" y="3714750"/>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Supabase</a:t>
            </a:r>
          </a:p>
        </p:txBody>
      </p:sp>
      <p:cxnSp>
        <p:nvCxnSpPr>
          <p:cNvPr id="41" name="">
            <a:extLst xmlns:a="http://schemas.openxmlformats.org/drawingml/2006/main">
              <a:ext uri="{FF2B5EF4-FFF2-40B4-BE49-F238E27FC236}">
                <a16:creationId xmlns:a16="http://schemas.microsoft.com/office/drawing/2014/main" id="{5ABE9515-35BA-45A5-965B-37A33EFC97AD}"/>
              </a:ext>
            </a:extLst>
          </p:cNvPr>
          <p:cNvCxnSpPr>
            <a:stCxn xmlns:a="http://schemas.openxmlformats.org/drawingml/2006/main" id="36" idx="3"/>
            <a:endCxn xmlns:a="http://schemas.openxmlformats.org/drawingml/2006/main" id="39" idx="1"/>
          </p:cNvCxnSpPr>
          <p:nvPr/>
        </p:nvCxnSpPr>
        <p:spPr>
          <a:xfrm xmlns:a="http://schemas.openxmlformats.org/drawingml/2006/main">
            <a:off x="11744325" y="3857625"/>
            <a:ext cx="733425" cy="0"/>
          </a:xfrm>
          <a:prstGeom xmlns:a="http://schemas.openxmlformats.org/drawingml/2006/main" prst="straightConnector1">
            <a:avLst/>
          </a:prstGeom>
          <a:ln xmlns:a="http://schemas.openxmlformats.org/drawingml/2006/main" w="19050">
            <a:solidFill>
              <a:srgbClr val="8693A6"/>
            </a:solidFill>
            <a:prstDash val="solid"/>
            <a:tailEnd type="triangle" w="sm" len="sm"/>
          </a:ln>
        </p:spPr>
      </p:cxnSp>
      <p:sp>
        <p:nvSpPr>
          <p:cNvPr id="42" name="panel-60">
            <a:extLst xmlns:a="http://schemas.openxmlformats.org/drawingml/2006/main">
              <a:ext uri="{FF2B5EF4-FFF2-40B4-BE49-F238E27FC236}">
                <a16:creationId xmlns:a16="http://schemas.microsoft.com/office/drawing/2014/main" id="{3D49442F-5B49-4D9F-A188-5A6EDA1FB321}"/>
              </a:ext>
            </a:extLst>
          </p:cNvPr>
          <p:cNvSpPr>
            <a:spLocks xmlns:a="http://schemas.openxmlformats.org/drawingml/2006/main" noGrp="1"/>
          </p:cNvSpPr>
          <p:nvPr/>
        </p:nvSpPr>
        <p:spPr>
          <a:xfrm xmlns:a="http://schemas.openxmlformats.org/drawingml/2006/main">
            <a:off x="9458325" y="4705350"/>
            <a:ext cx="2286000" cy="609600"/>
          </a:xfrm>
          <a:prstGeom xmlns:a="http://schemas.openxmlformats.org/drawingml/2006/main" prst="roundRect">
            <a:avLst>
              <a:gd name="adj" fmla="val 21875"/>
            </a:avLst>
          </a:prstGeom>
          <a:solidFill xmlns:a="http://schemas.openxmlformats.org/drawingml/2006/main">
            <a:srgbClr val="EEF2F7"/>
          </a:solidFill>
          <a:ln xmlns:a="http://schemas.openxmlformats.org/drawingml/2006/main" w="0">
            <a:noFill/>
          </a:ln>
        </p:spPr>
      </p:sp>
      <p:sp>
        <p:nvSpPr>
          <p:cNvPr id="43" name="text-61">
            <a:extLst xmlns:a="http://schemas.openxmlformats.org/drawingml/2006/main">
              <a:ext uri="{FF2B5EF4-FFF2-40B4-BE49-F238E27FC236}">
                <a16:creationId xmlns:a16="http://schemas.microsoft.com/office/drawing/2014/main" id="{5E9FED3A-1488-4049-A7D9-D4381B2577D4}"/>
              </a:ext>
            </a:extLst>
          </p:cNvPr>
          <p:cNvSpPr>
            <a:spLocks xmlns:a="http://schemas.openxmlformats.org/drawingml/2006/main" noGrp="1"/>
          </p:cNvSpPr>
          <p:nvPr/>
        </p:nvSpPr>
        <p:spPr>
          <a:xfrm xmlns:a="http://schemas.openxmlformats.org/drawingml/2006/main">
            <a:off x="9610725" y="4867275"/>
            <a:ext cx="1981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Telegram</a:t>
            </a:r>
          </a:p>
        </p:txBody>
      </p:sp>
      <p:cxnSp>
        <p:nvCxnSpPr>
          <p:cNvPr id="44" name="">
            <a:extLst xmlns:a="http://schemas.openxmlformats.org/drawingml/2006/main">
              <a:ext uri="{FF2B5EF4-FFF2-40B4-BE49-F238E27FC236}">
                <a16:creationId xmlns:a16="http://schemas.microsoft.com/office/drawing/2014/main" id="{B4760C1E-9A03-42A7-9933-AA1A05AAD4A7}"/>
              </a:ext>
            </a:extLst>
          </p:cNvPr>
          <p:cNvCxnSpPr>
            <a:stCxn xmlns:a="http://schemas.openxmlformats.org/drawingml/2006/main" id="36" idx="2"/>
            <a:endCxn xmlns:a="http://schemas.openxmlformats.org/drawingml/2006/main" id="42" idx="0"/>
          </p:cNvCxnSpPr>
          <p:nvPr/>
        </p:nvCxnSpPr>
        <p:spPr>
          <a:xfrm xmlns:a="http://schemas.openxmlformats.org/drawingml/2006/main">
            <a:off x="10601325" y="4162425"/>
            <a:ext cx="0" cy="542925"/>
          </a:xfrm>
          <a:prstGeom xmlns:a="http://schemas.openxmlformats.org/drawingml/2006/main" prst="straightConnector1">
            <a:avLst/>
          </a:prstGeom>
          <a:ln xmlns:a="http://schemas.openxmlformats.org/drawingml/2006/main" w="19050">
            <a:solidFill>
              <a:srgbClr val="8693A6"/>
            </a:solidFill>
            <a:prstDash val="solid"/>
            <a:tailEnd type="triangle" w="sm" len="sm"/>
          </a:ln>
        </p:spPr>
      </p:cxnSp>
      <p:sp>
        <p:nvSpPr>
          <p:cNvPr id="45" name="text-62">
            <a:extLst xmlns:a="http://schemas.openxmlformats.org/drawingml/2006/main">
              <a:ext uri="{FF2B5EF4-FFF2-40B4-BE49-F238E27FC236}">
                <a16:creationId xmlns:a16="http://schemas.microsoft.com/office/drawing/2014/main" id="{8CA01CAB-1061-4A9B-A69A-806F4021BB88}"/>
              </a:ext>
            </a:extLst>
          </p:cNvPr>
          <p:cNvSpPr>
            <a:spLocks xmlns:a="http://schemas.openxmlformats.org/drawingml/2006/main" noGrp="1"/>
          </p:cNvSpPr>
          <p:nvPr/>
        </p:nvSpPr>
        <p:spPr>
          <a:xfrm xmlns:a="http://schemas.openxmlformats.org/drawingml/2006/main">
            <a:off x="6572250" y="5486400"/>
            <a:ext cx="790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2314A"/>
                </a:solidFill>
                <a:latin typeface="Lato"/>
                <a:ea typeface="Lato"/>
                <a:cs typeface="Lato"/>
              </a:defRPr>
            </a:defPPr>
          </a:lstStyle>
          <a:p xmlns:a="http://schemas.openxmlformats.org/drawingml/2006/main">
            <a:pPr>
              <a:defRPr sz="1875" b="0">
                <a:solidFill>
                  <a:srgbClr val="22314A"/>
                </a:solidFill>
                <a:latin typeface="Lato"/>
                <a:ea typeface="Lato"/>
                <a:cs typeface="Lato"/>
              </a:defRPr>
            </a:pPr>
            <a:r>
              <a:rPr sz="1875" b="0">
                <a:solidFill>
                  <a:srgbClr val="22314A"/>
                </a:solidFill>
                <a:latin typeface="Lato"/>
                <a:ea typeface="Lato"/>
                <a:cs typeface="Lato"/>
              </a:rPr>
              <a:t>The API notifies Telegram after saving the order.</a:t>
            </a:r>
          </a:p>
        </p:txBody>
      </p:sp>
      <p:sp>
        <p:nvSpPr>
          <p:cNvPr id="46" name="text-63">
            <a:extLst xmlns:a="http://schemas.openxmlformats.org/drawingml/2006/main">
              <a:ext uri="{FF2B5EF4-FFF2-40B4-BE49-F238E27FC236}">
                <a16:creationId xmlns:a16="http://schemas.microsoft.com/office/drawing/2014/main" id="{C9FED50D-A93C-4DB8-94A8-C44CBD9F9A15}"/>
              </a:ext>
            </a:extLst>
          </p:cNvPr>
          <p:cNvSpPr>
            <a:spLocks xmlns:a="http://schemas.openxmlformats.org/drawingml/2006/main" noGrp="1"/>
          </p:cNvSpPr>
          <p:nvPr/>
        </p:nvSpPr>
        <p:spPr>
          <a:xfrm xmlns:a="http://schemas.openxmlformats.org/drawingml/2006/main">
            <a:off x="6572250" y="6115050"/>
            <a:ext cx="781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22314A"/>
                </a:solidFill>
                <a:latin typeface="Lato"/>
                <a:ea typeface="Lato"/>
                <a:cs typeface="Lato"/>
              </a:defRPr>
            </a:defPPr>
          </a:lstStyle>
          <a:p xmlns:a="http://schemas.openxmlformats.org/drawingml/2006/main">
            <a:pPr>
              <a:defRPr sz="1800" b="0">
                <a:solidFill>
                  <a:srgbClr val="22314A"/>
                </a:solidFill>
                <a:latin typeface="Lato"/>
                <a:ea typeface="Lato"/>
                <a:cs typeface="Lato"/>
              </a:defRPr>
            </a:pPr>
            <a:r>
              <a:rPr sz="1800" b="0">
                <a:solidFill>
                  <a:srgbClr val="22314A"/>
                </a:solidFill>
                <a:latin typeface="Lato"/>
                <a:ea typeface="Lato"/>
                <a:cs typeface="Lato"/>
              </a:rPr>
              <a:t>src/components     reusable interface</a:t>
            </a:r>
          </a:p>
          <a:p xmlns:a="http://schemas.openxmlformats.org/drawingml/2006/main">
            <a:pPr>
              <a:defRPr sz="1800" b="0">
                <a:solidFill>
                  <a:srgbClr val="22314A"/>
                </a:solidFill>
                <a:latin typeface="Lato"/>
                <a:ea typeface="Lato"/>
                <a:cs typeface="Lato"/>
              </a:defRPr>
            </a:pPr>
            <a:r>
              <a:rPr sz="1800" b="0">
                <a:solidFill>
                  <a:srgbClr val="22314A"/>
                </a:solidFill>
                <a:latin typeface="Lato"/>
                <a:ea typeface="Lato"/>
                <a:cs typeface="Lato"/>
              </a:rPr>
              <a:t>src/pages                 application pages</a:t>
            </a:r>
          </a:p>
          <a:p xmlns:a="http://schemas.openxmlformats.org/drawingml/2006/main">
            <a:pPr>
              <a:defRPr sz="1800" b="0">
                <a:solidFill>
                  <a:srgbClr val="22314A"/>
                </a:solidFill>
                <a:latin typeface="Lato"/>
                <a:ea typeface="Lato"/>
                <a:cs typeface="Lato"/>
              </a:defRPr>
            </a:pPr>
            <a:r>
              <a:rPr sz="1800" b="0">
                <a:solidFill>
                  <a:srgbClr val="22314A"/>
                </a:solidFill>
                <a:latin typeface="Lato"/>
                <a:ea typeface="Lato"/>
                <a:cs typeface="Lato"/>
              </a:rPr>
              <a:t>src/context             shared cart state</a:t>
            </a:r>
          </a:p>
          <a:p xmlns:a="http://schemas.openxmlformats.org/drawingml/2006/main">
            <a:pPr>
              <a:defRPr sz="1800" b="0">
                <a:solidFill>
                  <a:srgbClr val="22314A"/>
                </a:solidFill>
                <a:latin typeface="Lato"/>
                <a:ea typeface="Lato"/>
                <a:cs typeface="Lato"/>
              </a:defRPr>
            </a:pPr>
            <a:r>
              <a:rPr sz="1800" b="0">
                <a:solidFill>
                  <a:srgbClr val="22314A"/>
                </a:solidFill>
                <a:latin typeface="Lato"/>
                <a:ea typeface="Lato"/>
                <a:cs typeface="Lato"/>
              </a:rPr>
              <a:t>api                              server order handler</a:t>
            </a:r>
          </a:p>
        </p:txBody>
      </p:sp>
      <p:sp>
        <p:nvSpPr>
          <p:cNvPr id="47" name="text-64">
            <a:extLst xmlns:a="http://schemas.openxmlformats.org/drawingml/2006/main">
              <a:ext uri="{FF2B5EF4-FFF2-40B4-BE49-F238E27FC236}">
                <a16:creationId xmlns:a16="http://schemas.microsoft.com/office/drawing/2014/main" id="{E8A878D6-675E-4BEA-BB7D-E542ABED2214}"/>
              </a:ext>
            </a:extLst>
          </p:cNvPr>
          <p:cNvSpPr>
            <a:spLocks xmlns:a="http://schemas.openxmlformats.org/drawingml/2006/main" noGrp="1"/>
          </p:cNvSpPr>
          <p:nvPr/>
        </p:nvSpPr>
        <p:spPr>
          <a:xfrm xmlns:a="http://schemas.openxmlformats.org/drawingml/2006/main">
            <a:off x="685800" y="7543800"/>
            <a:ext cx="1381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96578"/>
                </a:solidFill>
                <a:latin typeface="Lato"/>
                <a:ea typeface="Lato"/>
                <a:cs typeface="Lato"/>
              </a:defRPr>
            </a:defPPr>
          </a:lstStyle>
          <a:p xmlns:a="http://schemas.openxmlformats.org/drawingml/2006/main">
            <a:pPr>
              <a:defRPr sz="1575" b="0">
                <a:solidFill>
                  <a:srgbClr val="596578"/>
                </a:solidFill>
                <a:latin typeface="Lato"/>
                <a:ea typeface="Lato"/>
                <a:cs typeface="Lato"/>
              </a:defRPr>
            </a:pPr>
            <a:r>
              <a:rPr sz="1575" b="0">
                <a:solidFill>
                  <a:srgbClr val="596578"/>
                </a:solidFill>
                <a:latin typeface="Lato"/>
                <a:ea typeface="Lato"/>
                <a:cs typeface="Lato"/>
              </a:rPr>
              <a:t>React + TypeScript     CSS Modules     Clerk authentication     Vercel hosting</a:t>
            </a:r>
          </a:p>
        </p:txBody>
      </p:sp>
    </p:spTree>
    <p:extLst>
      <p:ext uri="{BB962C8B-B14F-4D97-AF65-F5344CB8AC3E}">
        <p14:creationId xmlns:p14="http://schemas.microsoft.com/office/powerpoint/2010/main" val="1386534681"/>
      </p:ext>
    </p:extLst>
  </p:cSld>
</p:sld>
</file>

<file path=ppt/slides/slide4.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27" name="panel-65">
            <a:extLst xmlns:a="http://schemas.openxmlformats.org/drawingml/2006/main">
              <a:ext uri="{FF2B5EF4-FFF2-40B4-BE49-F238E27FC236}">
                <a16:creationId xmlns:a16="http://schemas.microsoft.com/office/drawing/2014/main" id="{DB202CCC-CB42-4C7D-BB63-8AE1452D81A4}"/>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66">
            <a:extLst xmlns:a="http://schemas.openxmlformats.org/drawingml/2006/main">
              <a:ext uri="{FF2B5EF4-FFF2-40B4-BE49-F238E27FC236}">
                <a16:creationId xmlns:a16="http://schemas.microsoft.com/office/drawing/2014/main" id="{D1EEB6C1-2F85-41D2-A547-BF388E779099}"/>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67">
            <a:extLst xmlns:a="http://schemas.openxmlformats.org/drawingml/2006/main">
              <a:ext uri="{FF2B5EF4-FFF2-40B4-BE49-F238E27FC236}">
                <a16:creationId xmlns:a16="http://schemas.microsoft.com/office/drawing/2014/main" id="{F4547EE8-11AF-452E-8C5A-622A7CAE976D}"/>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04 / 07     3:00</a:t>
            </a:r>
          </a:p>
        </p:txBody>
      </p:sp>
      <p:sp>
        <p:nvSpPr>
          <p:cNvPr id="4" name="text-68">
            <a:extLst xmlns:a="http://schemas.openxmlformats.org/drawingml/2006/main">
              <a:ext uri="{FF2B5EF4-FFF2-40B4-BE49-F238E27FC236}">
                <a16:creationId xmlns:a16="http://schemas.microsoft.com/office/drawing/2014/main" id="{D4B5459A-BC16-44A8-B9E9-4600738D6F41}"/>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Live Application Demo</a:t>
            </a:r>
          </a:p>
        </p:txBody>
      </p:sp>
      <p:sp>
        <p:nvSpPr>
          <p:cNvPr id="5" name="text-69">
            <a:extLst xmlns:a="http://schemas.openxmlformats.org/drawingml/2006/main">
              <a:ext uri="{FF2B5EF4-FFF2-40B4-BE49-F238E27FC236}">
                <a16:creationId xmlns:a16="http://schemas.microsoft.com/office/drawing/2014/main" id="{79AC4ED9-C4C6-4812-959D-93A7EA274540}"/>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49bec5e62738498a"/>
              </a:rPr>
              <a:t>meloria.pp.ua</a:t>
            </a:r>
          </a:p>
        </p:txBody>
      </p:sp>
      <p:sp>
        <p:nvSpPr>
          <p:cNvPr id="6" name="text-70">
            <a:extLst xmlns:a="http://schemas.openxmlformats.org/drawingml/2006/main">
              <a:ext uri="{FF2B5EF4-FFF2-40B4-BE49-F238E27FC236}">
                <a16:creationId xmlns:a16="http://schemas.microsoft.com/office/drawing/2014/main" id="{5F70BF62-2C82-43A1-9A1A-A23526A32BA5}"/>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40cbf2025a0b45ec"/>
              </a:rPr>
              <a:t>GitHub repository</a:t>
            </a:r>
          </a:p>
        </p:txBody>
      </p:sp>
      <p:sp>
        <p:nvSpPr>
          <p:cNvPr id="7" name="text-71">
            <a:extLst xmlns:a="http://schemas.openxmlformats.org/drawingml/2006/main">
              <a:ext uri="{FF2B5EF4-FFF2-40B4-BE49-F238E27FC236}">
                <a16:creationId xmlns:a16="http://schemas.microsoft.com/office/drawing/2014/main" id="{67B782D1-C464-4E82-82C7-0D8BB7018407}"/>
              </a:ext>
            </a:extLst>
          </p:cNvPr>
          <p:cNvSpPr>
            <a:spLocks xmlns:a="http://schemas.openxmlformats.org/drawingml/2006/main" noGrp="1"/>
          </p:cNvSpPr>
          <p:nvPr/>
        </p:nvSpPr>
        <p:spPr>
          <a:xfrm xmlns:a="http://schemas.openxmlformats.org/drawingml/2006/main">
            <a:off x="685800" y="20288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Main customer journey</a:t>
            </a:r>
          </a:p>
        </p:txBody>
      </p:sp>
      <p:sp>
        <p:nvSpPr>
          <p:cNvPr id="8" name="text-72">
            <a:extLst xmlns:a="http://schemas.openxmlformats.org/drawingml/2006/main">
              <a:ext uri="{FF2B5EF4-FFF2-40B4-BE49-F238E27FC236}">
                <a16:creationId xmlns:a16="http://schemas.microsoft.com/office/drawing/2014/main" id="{1B62A36F-CA97-4D1F-A3B4-763AFAB46CFB}"/>
              </a:ext>
            </a:extLst>
          </p:cNvPr>
          <p:cNvSpPr>
            <a:spLocks xmlns:a="http://schemas.openxmlformats.org/drawingml/2006/main" noGrp="1"/>
          </p:cNvSpPr>
          <p:nvPr/>
        </p:nvSpPr>
        <p:spPr>
          <a:xfrm xmlns:a="http://schemas.openxmlformats.org/drawingml/2006/main">
            <a:off x="685800" y="27146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B38A36"/>
                </a:solidFill>
                <a:latin typeface="Lato"/>
                <a:ea typeface="Lato"/>
                <a:cs typeface="Lato"/>
              </a:defRPr>
            </a:defPPr>
          </a:lstStyle>
          <a:p xmlns:a="http://schemas.openxmlformats.org/drawingml/2006/main">
            <a:pPr>
              <a:defRPr sz="2325" b="1">
                <a:solidFill>
                  <a:srgbClr val="B38A36"/>
                </a:solidFill>
                <a:latin typeface="Lato"/>
                <a:ea typeface="Lato"/>
                <a:cs typeface="Lato"/>
              </a:defRPr>
            </a:pPr>
            <a:r>
              <a:rPr sz="2325" b="1">
                <a:solidFill>
                  <a:srgbClr val="B38A36"/>
                </a:solidFill>
                <a:latin typeface="Lato"/>
                <a:ea typeface="Lato"/>
                <a:cs typeface="Lato"/>
              </a:rPr>
              <a:t>01</a:t>
            </a:r>
          </a:p>
        </p:txBody>
      </p:sp>
      <p:sp>
        <p:nvSpPr>
          <p:cNvPr id="9" name="text-73">
            <a:extLst xmlns:a="http://schemas.openxmlformats.org/drawingml/2006/main">
              <a:ext uri="{FF2B5EF4-FFF2-40B4-BE49-F238E27FC236}">
                <a16:creationId xmlns:a16="http://schemas.microsoft.com/office/drawing/2014/main" id="{5AF090A2-A2F4-4F77-B716-CF7F5EC9C555}"/>
              </a:ext>
            </a:extLst>
          </p:cNvPr>
          <p:cNvSpPr>
            <a:spLocks xmlns:a="http://schemas.openxmlformats.org/drawingml/2006/main" noGrp="1"/>
          </p:cNvSpPr>
          <p:nvPr/>
        </p:nvSpPr>
        <p:spPr>
          <a:xfrm xmlns:a="http://schemas.openxmlformats.org/drawingml/2006/main">
            <a:off x="1438275" y="271462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32345"/>
                </a:solidFill>
                <a:latin typeface="Lato"/>
                <a:ea typeface="Lato"/>
                <a:cs typeface="Lato"/>
              </a:defRPr>
            </a:defPPr>
          </a:lstStyle>
          <a:p xmlns:a="http://schemas.openxmlformats.org/drawingml/2006/main">
            <a:pPr>
              <a:defRPr sz="2175" b="1">
                <a:solidFill>
                  <a:srgbClr val="132345"/>
                </a:solidFill>
                <a:latin typeface="Lato"/>
                <a:ea typeface="Lato"/>
                <a:cs typeface="Lato"/>
              </a:defRPr>
            </a:pPr>
            <a:r>
              <a:rPr sz="2175" b="1">
                <a:solidFill>
                  <a:srgbClr val="132345"/>
                </a:solidFill>
                <a:latin typeface="Lato"/>
                <a:ea typeface="Lato"/>
                <a:cs typeface="Lato"/>
              </a:rPr>
              <a:t>Find a product</a:t>
            </a:r>
          </a:p>
        </p:txBody>
      </p:sp>
      <p:sp>
        <p:nvSpPr>
          <p:cNvPr id="10" name="text-74">
            <a:extLst xmlns:a="http://schemas.openxmlformats.org/drawingml/2006/main">
              <a:ext uri="{FF2B5EF4-FFF2-40B4-BE49-F238E27FC236}">
                <a16:creationId xmlns:a16="http://schemas.microsoft.com/office/drawing/2014/main" id="{7C087507-B236-43C3-BD2C-54A55052FF44}"/>
              </a:ext>
            </a:extLst>
          </p:cNvPr>
          <p:cNvSpPr>
            <a:spLocks xmlns:a="http://schemas.openxmlformats.org/drawingml/2006/main" noGrp="1"/>
          </p:cNvSpPr>
          <p:nvPr/>
        </p:nvSpPr>
        <p:spPr>
          <a:xfrm xmlns:a="http://schemas.openxmlformats.org/drawingml/2006/main">
            <a:off x="1438275" y="31051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578"/>
                </a:solidFill>
                <a:latin typeface="Lato"/>
                <a:ea typeface="Lato"/>
                <a:cs typeface="Lato"/>
              </a:defRPr>
            </a:defPPr>
          </a:lstStyle>
          <a:p xmlns:a="http://schemas.openxmlformats.org/drawingml/2006/main">
            <a:pPr>
              <a:defRPr sz="1800" b="0">
                <a:solidFill>
                  <a:srgbClr val="596578"/>
                </a:solidFill>
                <a:latin typeface="Lato"/>
                <a:ea typeface="Lato"/>
                <a:cs typeface="Lato"/>
              </a:defRPr>
            </a:pPr>
            <a:r>
              <a:rPr sz="1800" b="0">
                <a:solidFill>
                  <a:srgbClr val="596578"/>
                </a:solidFill>
                <a:latin typeface="Lato"/>
                <a:ea typeface="Lato"/>
                <a:cs typeface="Lato"/>
              </a:rPr>
              <a:t>Use search or filters</a:t>
            </a:r>
          </a:p>
        </p:txBody>
      </p:sp>
      <p:sp>
        <p:nvSpPr>
          <p:cNvPr id="11" name="text-75">
            <a:extLst xmlns:a="http://schemas.openxmlformats.org/drawingml/2006/main">
              <a:ext uri="{FF2B5EF4-FFF2-40B4-BE49-F238E27FC236}">
                <a16:creationId xmlns:a16="http://schemas.microsoft.com/office/drawing/2014/main" id="{02B81DE2-B197-461A-B9DA-D866E4C2C28D}"/>
              </a:ext>
            </a:extLst>
          </p:cNvPr>
          <p:cNvSpPr>
            <a:spLocks xmlns:a="http://schemas.openxmlformats.org/drawingml/2006/main" noGrp="1"/>
          </p:cNvSpPr>
          <p:nvPr/>
        </p:nvSpPr>
        <p:spPr>
          <a:xfrm xmlns:a="http://schemas.openxmlformats.org/drawingml/2006/main">
            <a:off x="685800" y="36290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B38A36"/>
                </a:solidFill>
                <a:latin typeface="Lato"/>
                <a:ea typeface="Lato"/>
                <a:cs typeface="Lato"/>
              </a:defRPr>
            </a:defPPr>
          </a:lstStyle>
          <a:p xmlns:a="http://schemas.openxmlformats.org/drawingml/2006/main">
            <a:pPr>
              <a:defRPr sz="2325" b="1">
                <a:solidFill>
                  <a:srgbClr val="B38A36"/>
                </a:solidFill>
                <a:latin typeface="Lato"/>
                <a:ea typeface="Lato"/>
                <a:cs typeface="Lato"/>
              </a:defRPr>
            </a:pPr>
            <a:r>
              <a:rPr sz="2325" b="1">
                <a:solidFill>
                  <a:srgbClr val="B38A36"/>
                </a:solidFill>
                <a:latin typeface="Lato"/>
                <a:ea typeface="Lato"/>
                <a:cs typeface="Lato"/>
              </a:rPr>
              <a:t>02</a:t>
            </a:r>
          </a:p>
        </p:txBody>
      </p:sp>
      <p:sp>
        <p:nvSpPr>
          <p:cNvPr id="12" name="text-76">
            <a:extLst xmlns:a="http://schemas.openxmlformats.org/drawingml/2006/main">
              <a:ext uri="{FF2B5EF4-FFF2-40B4-BE49-F238E27FC236}">
                <a16:creationId xmlns:a16="http://schemas.microsoft.com/office/drawing/2014/main" id="{11860CB5-0ACF-40D0-9EC2-7BC497EA8CA7}"/>
              </a:ext>
            </a:extLst>
          </p:cNvPr>
          <p:cNvSpPr>
            <a:spLocks xmlns:a="http://schemas.openxmlformats.org/drawingml/2006/main" noGrp="1"/>
          </p:cNvSpPr>
          <p:nvPr/>
        </p:nvSpPr>
        <p:spPr>
          <a:xfrm xmlns:a="http://schemas.openxmlformats.org/drawingml/2006/main">
            <a:off x="1438275" y="362902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32345"/>
                </a:solidFill>
                <a:latin typeface="Lato"/>
                <a:ea typeface="Lato"/>
                <a:cs typeface="Lato"/>
              </a:defRPr>
            </a:defPPr>
          </a:lstStyle>
          <a:p xmlns:a="http://schemas.openxmlformats.org/drawingml/2006/main">
            <a:pPr>
              <a:defRPr sz="2175" b="1">
                <a:solidFill>
                  <a:srgbClr val="132345"/>
                </a:solidFill>
                <a:latin typeface="Lato"/>
                <a:ea typeface="Lato"/>
                <a:cs typeface="Lato"/>
              </a:defRPr>
            </a:pPr>
            <a:r>
              <a:rPr sz="2175" b="1">
                <a:solidFill>
                  <a:srgbClr val="132345"/>
                </a:solidFill>
                <a:latin typeface="Lato"/>
                <a:ea typeface="Lato"/>
                <a:cs typeface="Lato"/>
              </a:rPr>
              <a:t>Update the cart</a:t>
            </a:r>
          </a:p>
        </p:txBody>
      </p:sp>
      <p:sp>
        <p:nvSpPr>
          <p:cNvPr id="13" name="text-77">
            <a:extLst xmlns:a="http://schemas.openxmlformats.org/drawingml/2006/main">
              <a:ext uri="{FF2B5EF4-FFF2-40B4-BE49-F238E27FC236}">
                <a16:creationId xmlns:a16="http://schemas.microsoft.com/office/drawing/2014/main" id="{8980E754-2712-4C56-A7AA-E2ED024A03FF}"/>
              </a:ext>
            </a:extLst>
          </p:cNvPr>
          <p:cNvSpPr>
            <a:spLocks xmlns:a="http://schemas.openxmlformats.org/drawingml/2006/main" noGrp="1"/>
          </p:cNvSpPr>
          <p:nvPr/>
        </p:nvSpPr>
        <p:spPr>
          <a:xfrm xmlns:a="http://schemas.openxmlformats.org/drawingml/2006/main">
            <a:off x="1438275" y="40195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578"/>
                </a:solidFill>
                <a:latin typeface="Lato"/>
                <a:ea typeface="Lato"/>
                <a:cs typeface="Lato"/>
              </a:defRPr>
            </a:defPPr>
          </a:lstStyle>
          <a:p xmlns:a="http://schemas.openxmlformats.org/drawingml/2006/main">
            <a:pPr>
              <a:defRPr sz="1800" b="0">
                <a:solidFill>
                  <a:srgbClr val="596578"/>
                </a:solidFill>
                <a:latin typeface="Lato"/>
                <a:ea typeface="Lato"/>
                <a:cs typeface="Lato"/>
              </a:defRPr>
            </a:pPr>
            <a:r>
              <a:rPr sz="1800" b="0">
                <a:solidFill>
                  <a:srgbClr val="596578"/>
                </a:solidFill>
                <a:latin typeface="Lato"/>
                <a:ea typeface="Lato"/>
                <a:cs typeface="Lato"/>
              </a:rPr>
              <a:t>Add an item and change quantity</a:t>
            </a:r>
          </a:p>
        </p:txBody>
      </p:sp>
      <p:sp>
        <p:nvSpPr>
          <p:cNvPr id="14" name="text-78">
            <a:extLst xmlns:a="http://schemas.openxmlformats.org/drawingml/2006/main">
              <a:ext uri="{FF2B5EF4-FFF2-40B4-BE49-F238E27FC236}">
                <a16:creationId xmlns:a16="http://schemas.microsoft.com/office/drawing/2014/main" id="{F6D5E017-AB20-4441-AB47-582D4B32818A}"/>
              </a:ext>
            </a:extLst>
          </p:cNvPr>
          <p:cNvSpPr>
            <a:spLocks xmlns:a="http://schemas.openxmlformats.org/drawingml/2006/main" noGrp="1"/>
          </p:cNvSpPr>
          <p:nvPr/>
        </p:nvSpPr>
        <p:spPr>
          <a:xfrm xmlns:a="http://schemas.openxmlformats.org/drawingml/2006/main">
            <a:off x="685800" y="45434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B38A36"/>
                </a:solidFill>
                <a:latin typeface="Lato"/>
                <a:ea typeface="Lato"/>
                <a:cs typeface="Lato"/>
              </a:defRPr>
            </a:defPPr>
          </a:lstStyle>
          <a:p xmlns:a="http://schemas.openxmlformats.org/drawingml/2006/main">
            <a:pPr>
              <a:defRPr sz="2325" b="1">
                <a:solidFill>
                  <a:srgbClr val="B38A36"/>
                </a:solidFill>
                <a:latin typeface="Lato"/>
                <a:ea typeface="Lato"/>
                <a:cs typeface="Lato"/>
              </a:defRPr>
            </a:pPr>
            <a:r>
              <a:rPr sz="2325" b="1">
                <a:solidFill>
                  <a:srgbClr val="B38A36"/>
                </a:solidFill>
                <a:latin typeface="Lato"/>
                <a:ea typeface="Lato"/>
                <a:cs typeface="Lato"/>
              </a:rPr>
              <a:t>03</a:t>
            </a:r>
          </a:p>
        </p:txBody>
      </p:sp>
      <p:sp>
        <p:nvSpPr>
          <p:cNvPr id="15" name="text-79">
            <a:extLst xmlns:a="http://schemas.openxmlformats.org/drawingml/2006/main">
              <a:ext uri="{FF2B5EF4-FFF2-40B4-BE49-F238E27FC236}">
                <a16:creationId xmlns:a16="http://schemas.microsoft.com/office/drawing/2014/main" id="{DC5903F3-A0E5-4E34-85AA-158EBCA8E0B6}"/>
              </a:ext>
            </a:extLst>
          </p:cNvPr>
          <p:cNvSpPr>
            <a:spLocks xmlns:a="http://schemas.openxmlformats.org/drawingml/2006/main" noGrp="1"/>
          </p:cNvSpPr>
          <p:nvPr/>
        </p:nvSpPr>
        <p:spPr>
          <a:xfrm xmlns:a="http://schemas.openxmlformats.org/drawingml/2006/main">
            <a:off x="1438275" y="454342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32345"/>
                </a:solidFill>
                <a:latin typeface="Lato"/>
                <a:ea typeface="Lato"/>
                <a:cs typeface="Lato"/>
              </a:defRPr>
            </a:defPPr>
          </a:lstStyle>
          <a:p xmlns:a="http://schemas.openxmlformats.org/drawingml/2006/main">
            <a:pPr>
              <a:defRPr sz="2175" b="1">
                <a:solidFill>
                  <a:srgbClr val="132345"/>
                </a:solidFill>
                <a:latin typeface="Lato"/>
                <a:ea typeface="Lato"/>
                <a:cs typeface="Lato"/>
              </a:defRPr>
            </a:pPr>
            <a:r>
              <a:rPr sz="2175" b="1">
                <a:solidFill>
                  <a:srgbClr val="132345"/>
                </a:solidFill>
                <a:latin typeface="Lato"/>
                <a:ea typeface="Lato"/>
                <a:cs typeface="Lato"/>
              </a:rPr>
              <a:t>Open checkout</a:t>
            </a:r>
          </a:p>
        </p:txBody>
      </p:sp>
      <p:sp>
        <p:nvSpPr>
          <p:cNvPr id="16" name="text-80">
            <a:extLst xmlns:a="http://schemas.openxmlformats.org/drawingml/2006/main">
              <a:ext uri="{FF2B5EF4-FFF2-40B4-BE49-F238E27FC236}">
                <a16:creationId xmlns:a16="http://schemas.microsoft.com/office/drawing/2014/main" id="{77B3C0AF-36A7-4FE5-A32E-8E7DAF2CFC74}"/>
              </a:ext>
            </a:extLst>
          </p:cNvPr>
          <p:cNvSpPr>
            <a:spLocks xmlns:a="http://schemas.openxmlformats.org/drawingml/2006/main" noGrp="1"/>
          </p:cNvSpPr>
          <p:nvPr/>
        </p:nvSpPr>
        <p:spPr>
          <a:xfrm xmlns:a="http://schemas.openxmlformats.org/drawingml/2006/main">
            <a:off x="1438275" y="49339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578"/>
                </a:solidFill>
                <a:latin typeface="Lato"/>
                <a:ea typeface="Lato"/>
                <a:cs typeface="Lato"/>
              </a:defRPr>
            </a:defPPr>
          </a:lstStyle>
          <a:p xmlns:a="http://schemas.openxmlformats.org/drawingml/2006/main">
            <a:pPr>
              <a:defRPr sz="1800" b="0">
                <a:solidFill>
                  <a:srgbClr val="596578"/>
                </a:solidFill>
                <a:latin typeface="Lato"/>
                <a:ea typeface="Lato"/>
                <a:cs typeface="Lato"/>
              </a:defRPr>
            </a:pPr>
            <a:r>
              <a:rPr sz="1800" b="0">
                <a:solidFill>
                  <a:srgbClr val="596578"/>
                </a:solidFill>
                <a:latin typeface="Lato"/>
                <a:ea typeface="Lato"/>
                <a:cs typeface="Lato"/>
              </a:rPr>
              <a:t>Show validation without submitting</a:t>
            </a:r>
          </a:p>
        </p:txBody>
      </p:sp>
      <p:sp>
        <p:nvSpPr>
          <p:cNvPr id="17" name="text-81">
            <a:extLst xmlns:a="http://schemas.openxmlformats.org/drawingml/2006/main">
              <a:ext uri="{FF2B5EF4-FFF2-40B4-BE49-F238E27FC236}">
                <a16:creationId xmlns:a16="http://schemas.microsoft.com/office/drawing/2014/main" id="{28150060-CBEC-4014-9B81-A0542272E476}"/>
              </a:ext>
            </a:extLst>
          </p:cNvPr>
          <p:cNvSpPr>
            <a:spLocks xmlns:a="http://schemas.openxmlformats.org/drawingml/2006/main" noGrp="1"/>
          </p:cNvSpPr>
          <p:nvPr/>
        </p:nvSpPr>
        <p:spPr>
          <a:xfrm xmlns:a="http://schemas.openxmlformats.org/drawingml/2006/main">
            <a:off x="685800" y="54578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B38A36"/>
                </a:solidFill>
                <a:latin typeface="Lato"/>
                <a:ea typeface="Lato"/>
                <a:cs typeface="Lato"/>
              </a:defRPr>
            </a:defPPr>
          </a:lstStyle>
          <a:p xmlns:a="http://schemas.openxmlformats.org/drawingml/2006/main">
            <a:pPr>
              <a:defRPr sz="2325" b="1">
                <a:solidFill>
                  <a:srgbClr val="B38A36"/>
                </a:solidFill>
                <a:latin typeface="Lato"/>
                <a:ea typeface="Lato"/>
                <a:cs typeface="Lato"/>
              </a:defRPr>
            </a:pPr>
            <a:r>
              <a:rPr sz="2325" b="1">
                <a:solidFill>
                  <a:srgbClr val="B38A36"/>
                </a:solidFill>
                <a:latin typeface="Lato"/>
                <a:ea typeface="Lato"/>
                <a:cs typeface="Lato"/>
              </a:rPr>
              <a:t>04</a:t>
            </a:r>
          </a:p>
        </p:txBody>
      </p:sp>
      <p:sp>
        <p:nvSpPr>
          <p:cNvPr id="18" name="text-82">
            <a:extLst xmlns:a="http://schemas.openxmlformats.org/drawingml/2006/main">
              <a:ext uri="{FF2B5EF4-FFF2-40B4-BE49-F238E27FC236}">
                <a16:creationId xmlns:a16="http://schemas.microsoft.com/office/drawing/2014/main" id="{96C1DD09-823C-4FD0-B1E9-08FA417A3AD4}"/>
              </a:ext>
            </a:extLst>
          </p:cNvPr>
          <p:cNvSpPr>
            <a:spLocks xmlns:a="http://schemas.openxmlformats.org/drawingml/2006/main" noGrp="1"/>
          </p:cNvSpPr>
          <p:nvPr/>
        </p:nvSpPr>
        <p:spPr>
          <a:xfrm xmlns:a="http://schemas.openxmlformats.org/drawingml/2006/main">
            <a:off x="1438275" y="5457825"/>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32345"/>
                </a:solidFill>
                <a:latin typeface="Lato"/>
                <a:ea typeface="Lato"/>
                <a:cs typeface="Lato"/>
              </a:defRPr>
            </a:defPPr>
          </a:lstStyle>
          <a:p xmlns:a="http://schemas.openxmlformats.org/drawingml/2006/main">
            <a:pPr>
              <a:defRPr sz="2175" b="1">
                <a:solidFill>
                  <a:srgbClr val="132345"/>
                </a:solidFill>
                <a:latin typeface="Lato"/>
                <a:ea typeface="Lato"/>
                <a:cs typeface="Lato"/>
              </a:defRPr>
            </a:pPr>
            <a:r>
              <a:rPr sz="2175" b="1">
                <a:solidFill>
                  <a:srgbClr val="132345"/>
                </a:solidFill>
                <a:latin typeface="Lato"/>
                <a:ea typeface="Lato"/>
                <a:cs typeface="Lato"/>
              </a:rPr>
              <a:t>Check mobile layout</a:t>
            </a:r>
          </a:p>
        </p:txBody>
      </p:sp>
      <p:sp>
        <p:nvSpPr>
          <p:cNvPr id="19" name="text-83">
            <a:extLst xmlns:a="http://schemas.openxmlformats.org/drawingml/2006/main">
              <a:ext uri="{FF2B5EF4-FFF2-40B4-BE49-F238E27FC236}">
                <a16:creationId xmlns:a16="http://schemas.microsoft.com/office/drawing/2014/main" id="{C52114BA-58F3-4074-8FD8-5BB4EE77C228}"/>
              </a:ext>
            </a:extLst>
          </p:cNvPr>
          <p:cNvSpPr>
            <a:spLocks xmlns:a="http://schemas.openxmlformats.org/drawingml/2006/main" noGrp="1"/>
          </p:cNvSpPr>
          <p:nvPr/>
        </p:nvSpPr>
        <p:spPr>
          <a:xfrm xmlns:a="http://schemas.openxmlformats.org/drawingml/2006/main">
            <a:off x="1438275" y="58483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96578"/>
                </a:solidFill>
                <a:latin typeface="Lato"/>
                <a:ea typeface="Lato"/>
                <a:cs typeface="Lato"/>
              </a:defRPr>
            </a:defPPr>
          </a:lstStyle>
          <a:p xmlns:a="http://schemas.openxmlformats.org/drawingml/2006/main">
            <a:pPr>
              <a:defRPr sz="1800" b="0">
                <a:solidFill>
                  <a:srgbClr val="596578"/>
                </a:solidFill>
                <a:latin typeface="Lato"/>
                <a:ea typeface="Lato"/>
                <a:cs typeface="Lato"/>
              </a:defRPr>
            </a:pPr>
            <a:r>
              <a:rPr sz="1800" b="0">
                <a:solidFill>
                  <a:srgbClr val="596578"/>
                </a:solidFill>
                <a:latin typeface="Lato"/>
                <a:ea typeface="Lato"/>
                <a:cs typeface="Lato"/>
              </a:rPr>
              <a:t>Show navigation and product browsing</a:t>
            </a:r>
          </a:p>
        </p:txBody>
      </p:sp>
      <p:sp>
        <p:nvSpPr>
          <p:cNvPr id="20" name="panel-84">
            <a:extLst xmlns:a="http://schemas.openxmlformats.org/drawingml/2006/main">
              <a:ext uri="{FF2B5EF4-FFF2-40B4-BE49-F238E27FC236}">
                <a16:creationId xmlns:a16="http://schemas.microsoft.com/office/drawing/2014/main" id="{B8162BFD-478F-40D5-AE9E-D7E6B665CEFC}"/>
              </a:ext>
            </a:extLst>
          </p:cNvPr>
          <p:cNvSpPr>
            <a:spLocks xmlns:a="http://schemas.openxmlformats.org/drawingml/2006/main" noGrp="1"/>
          </p:cNvSpPr>
          <p:nvPr/>
        </p:nvSpPr>
        <p:spPr>
          <a:xfrm xmlns:a="http://schemas.openxmlformats.org/drawingml/2006/main">
            <a:off x="685800" y="6724650"/>
            <a:ext cx="5124450" cy="676275"/>
          </a:xfrm>
          <a:prstGeom xmlns:a="http://schemas.openxmlformats.org/drawingml/2006/main" prst="roundRect">
            <a:avLst>
              <a:gd name="adj" fmla="val 21127"/>
            </a:avLst>
          </a:prstGeom>
          <a:solidFill xmlns:a="http://schemas.openxmlformats.org/drawingml/2006/main">
            <a:srgbClr val="132345"/>
          </a:solidFill>
          <a:ln xmlns:a="http://schemas.openxmlformats.org/drawingml/2006/main" w="0">
            <a:noFill/>
          </a:ln>
        </p:spPr>
      </p:sp>
      <p:sp>
        <p:nvSpPr>
          <p:cNvPr id="21" name="text-85">
            <a:extLst xmlns:a="http://schemas.openxmlformats.org/drawingml/2006/main">
              <a:ext uri="{FF2B5EF4-FFF2-40B4-BE49-F238E27FC236}">
                <a16:creationId xmlns:a16="http://schemas.microsoft.com/office/drawing/2014/main" id="{79F83887-EB74-4194-8E15-D9932FC47A70}"/>
              </a:ext>
            </a:extLst>
          </p:cNvPr>
          <p:cNvSpPr>
            <a:spLocks xmlns:a="http://schemas.openxmlformats.org/drawingml/2006/main" noGrp="1"/>
          </p:cNvSpPr>
          <p:nvPr/>
        </p:nvSpPr>
        <p:spPr>
          <a:xfrm xmlns:a="http://schemas.openxmlformats.org/drawingml/2006/main">
            <a:off x="1000125" y="6915150"/>
            <a:ext cx="4524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Lato"/>
                <a:ea typeface="Lato"/>
                <a:cs typeface="Lato"/>
              </a:defRPr>
            </a:defPPr>
          </a:lstStyle>
          <a:p xmlns:a="http://schemas.openxmlformats.org/drawingml/2006/main">
            <a:pPr>
              <a:defRPr sz="2175" b="1">
                <a:solidFill>
                  <a:srgbClr val="FFFFFF"/>
                </a:solidFill>
                <a:latin typeface="Lato"/>
                <a:ea typeface="Lato"/>
                <a:cs typeface="Lato"/>
              </a:defRPr>
            </a:pPr>
            <a:r>
              <a:rPr sz="2175" b="1">
                <a:solidFill>
                  <a:srgbClr val="FFFFFF"/>
                </a:solidFill>
                <a:latin typeface="Lato"/>
                <a:ea typeface="Lato"/>
                <a:cs typeface="Lato"/>
                <a:hlinkClick xmlns:r="http://schemas.openxmlformats.org/officeDocument/2006/relationships" r:id="Rb1e9d8d0cc184f2f"/>
              </a:rPr>
              <a:t>Open the live shop</a:t>
            </a:r>
          </a:p>
        </p:txBody>
      </p:sp>
      <p:pic>
        <p:nvPicPr>
          <p:cNvPr id="22" name="">
            <a:extLst xmlns:a="http://schemas.openxmlformats.org/drawingml/2006/main">
              <a:ext uri="{FF2B5EF4-FFF2-40B4-BE49-F238E27FC236}">
                <a16:creationId xmlns:a16="http://schemas.microsoft.com/office/drawing/2014/main" id="{36CCF94D-F657-478C-9715-AC8005B59CC4}"/>
              </a:ext>
            </a:extLst>
          </p:cNvPr>
          <p:cNvPicPr>
            <a:picLocks xmlns:a="http://schemas.openxmlformats.org/drawingml/2006/main" noChangeAspect="1"/>
          </p:cNvPicPr>
          <p:nvPr/>
        </p:nvPicPr>
        <p:blipFill>
          <a:blip xmlns:r="http://schemas.openxmlformats.org/officeDocument/2006/relationships" xmlns:a="http://schemas.openxmlformats.org/drawingml/2006/main" r:embed="R905c8f5e98eb4d7b"/>
          <a:stretch xmlns:a="http://schemas.openxmlformats.org/drawingml/2006/main"/>
        </p:blipFill>
        <p:spPr>
          <a:xfrm xmlns:a="http://schemas.openxmlformats.org/drawingml/2006/main">
            <a:off x="6191250" y="2353729"/>
            <a:ext cx="5953125" cy="3350692"/>
          </a:xfrm>
          <a:prstGeom xmlns:a="http://schemas.openxmlformats.org/drawingml/2006/main" prst="roundRect">
            <a:avLst>
              <a:gd name="adj" fmla="val 5114"/>
            </a:avLst>
          </a:prstGeom>
        </p:spPr>
      </p:pic>
      <p:pic>
        <p:nvPicPr>
          <p:cNvPr id="23" name="">
            <a:extLst xmlns:a="http://schemas.openxmlformats.org/drawingml/2006/main">
              <a:ext uri="{FF2B5EF4-FFF2-40B4-BE49-F238E27FC236}">
                <a16:creationId xmlns:a16="http://schemas.microsoft.com/office/drawing/2014/main" id="{38152F00-48F8-47FF-8DF5-EBD173D5D549}"/>
              </a:ext>
            </a:extLst>
          </p:cNvPr>
          <p:cNvPicPr>
            <a:picLocks xmlns:a="http://schemas.openxmlformats.org/drawingml/2006/main" noChangeAspect="1"/>
          </p:cNvPicPr>
          <p:nvPr/>
        </p:nvPicPr>
        <p:blipFill>
          <a:blip xmlns:r="http://schemas.openxmlformats.org/officeDocument/2006/relationships" xmlns:a="http://schemas.openxmlformats.org/drawingml/2006/main" r:embed="Rbc50d329c7034763"/>
          <a:stretch xmlns:a="http://schemas.openxmlformats.org/drawingml/2006/main"/>
        </p:blipFill>
        <p:spPr>
          <a:xfrm xmlns:a="http://schemas.openxmlformats.org/drawingml/2006/main">
            <a:off x="12334934" y="2019300"/>
            <a:ext cx="2190633" cy="4743450"/>
          </a:xfrm>
          <a:prstGeom xmlns:a="http://schemas.openxmlformats.org/drawingml/2006/main" prst="roundRect">
            <a:avLst>
              <a:gd name="adj" fmla="val 7826"/>
            </a:avLst>
          </a:prstGeom>
        </p:spPr>
      </p:pic>
      <p:sp>
        <p:nvSpPr>
          <p:cNvPr id="24" name="text-86">
            <a:extLst xmlns:a="http://schemas.openxmlformats.org/drawingml/2006/main">
              <a:ext uri="{FF2B5EF4-FFF2-40B4-BE49-F238E27FC236}">
                <a16:creationId xmlns:a16="http://schemas.microsoft.com/office/drawing/2014/main" id="{92DFDE6A-11C7-4929-99A8-4942C6AE79CA}"/>
              </a:ext>
            </a:extLst>
          </p:cNvPr>
          <p:cNvSpPr>
            <a:spLocks xmlns:a="http://schemas.openxmlformats.org/drawingml/2006/main" noGrp="1"/>
          </p:cNvSpPr>
          <p:nvPr/>
        </p:nvSpPr>
        <p:spPr>
          <a:xfrm xmlns:a="http://schemas.openxmlformats.org/drawingml/2006/main">
            <a:off x="6334125" y="588645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2314A"/>
                </a:solidFill>
                <a:latin typeface="Lato"/>
                <a:ea typeface="Lato"/>
                <a:cs typeface="Lato"/>
              </a:defRPr>
            </a:defPPr>
          </a:lstStyle>
          <a:p xmlns:a="http://schemas.openxmlformats.org/drawingml/2006/main">
            <a:pPr>
              <a:defRPr sz="1875" b="0">
                <a:solidFill>
                  <a:srgbClr val="22314A"/>
                </a:solidFill>
                <a:latin typeface="Lato"/>
                <a:ea typeface="Lato"/>
                <a:cs typeface="Lato"/>
              </a:defRPr>
            </a:pPr>
            <a:r>
              <a:rPr sz="1875" b="0">
                <a:solidFill>
                  <a:srgbClr val="22314A"/>
                </a:solidFill>
                <a:latin typeface="Lato"/>
                <a:ea typeface="Lato"/>
                <a:cs typeface="Lato"/>
              </a:rPr>
              <a:t>Desktop checkout</a:t>
            </a:r>
          </a:p>
        </p:txBody>
      </p:sp>
      <p:sp>
        <p:nvSpPr>
          <p:cNvPr id="25" name="text-87">
            <a:extLst xmlns:a="http://schemas.openxmlformats.org/drawingml/2006/main">
              <a:ext uri="{FF2B5EF4-FFF2-40B4-BE49-F238E27FC236}">
                <a16:creationId xmlns:a16="http://schemas.microsoft.com/office/drawing/2014/main" id="{52C5D517-E2A2-4C9C-A02A-D604522D3877}"/>
              </a:ext>
            </a:extLst>
          </p:cNvPr>
          <p:cNvSpPr>
            <a:spLocks xmlns:a="http://schemas.openxmlformats.org/drawingml/2006/main" noGrp="1"/>
          </p:cNvSpPr>
          <p:nvPr/>
        </p:nvSpPr>
        <p:spPr>
          <a:xfrm xmlns:a="http://schemas.openxmlformats.org/drawingml/2006/main">
            <a:off x="12763500" y="696277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22314A"/>
                </a:solidFill>
                <a:latin typeface="Lato"/>
                <a:ea typeface="Lato"/>
                <a:cs typeface="Lato"/>
              </a:defRPr>
            </a:defPPr>
          </a:lstStyle>
          <a:p xmlns:a="http://schemas.openxmlformats.org/drawingml/2006/main">
            <a:pPr>
              <a:defRPr sz="1875" b="0">
                <a:solidFill>
                  <a:srgbClr val="22314A"/>
                </a:solidFill>
                <a:latin typeface="Lato"/>
                <a:ea typeface="Lato"/>
                <a:cs typeface="Lato"/>
              </a:defRPr>
            </a:pPr>
            <a:r>
              <a:rPr sz="1875" b="0">
                <a:solidFill>
                  <a:srgbClr val="22314A"/>
                </a:solidFill>
                <a:latin typeface="Lato"/>
                <a:ea typeface="Lato"/>
                <a:cs typeface="Lato"/>
              </a:rPr>
              <a:t>Mobile</a:t>
            </a:r>
          </a:p>
        </p:txBody>
      </p:sp>
      <p:sp>
        <p:nvSpPr>
          <p:cNvPr id="26" name="text-88">
            <a:extLst xmlns:a="http://schemas.openxmlformats.org/drawingml/2006/main">
              <a:ext uri="{FF2B5EF4-FFF2-40B4-BE49-F238E27FC236}">
                <a16:creationId xmlns:a16="http://schemas.microsoft.com/office/drawing/2014/main" id="{ECAF1ACF-7AF6-45A5-977D-E827E6B61B41}"/>
              </a:ext>
            </a:extLst>
          </p:cNvPr>
          <p:cNvSpPr>
            <a:spLocks xmlns:a="http://schemas.openxmlformats.org/drawingml/2006/main" noGrp="1"/>
          </p:cNvSpPr>
          <p:nvPr/>
        </p:nvSpPr>
        <p:spPr>
          <a:xfrm xmlns:a="http://schemas.openxmlformats.org/drawingml/2006/main">
            <a:off x="6334125" y="6800850"/>
            <a:ext cx="561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96578"/>
                </a:solidFill>
                <a:latin typeface="Lato"/>
                <a:ea typeface="Lato"/>
                <a:cs typeface="Lato"/>
              </a:defRPr>
            </a:defPPr>
          </a:lstStyle>
          <a:p xmlns:a="http://schemas.openxmlformats.org/drawingml/2006/main">
            <a:pPr>
              <a:defRPr sz="1875" b="0">
                <a:solidFill>
                  <a:srgbClr val="596578"/>
                </a:solidFill>
                <a:latin typeface="Lato"/>
                <a:ea typeface="Lato"/>
                <a:cs typeface="Lato"/>
              </a:defRPr>
            </a:pPr>
            <a:r>
              <a:rPr sz="1875" b="0">
                <a:solidFill>
                  <a:srgbClr val="596578"/>
                </a:solidFill>
                <a:latin typeface="Lato"/>
                <a:ea typeface="Lato"/>
                <a:cs typeface="Lato"/>
              </a:rPr>
              <a:t>Backup: local catalogue and cart demo</a:t>
            </a:r>
          </a:p>
        </p:txBody>
      </p:sp>
    </p:spTree>
    <p:extLst>
      <p:ext uri="{BB962C8B-B14F-4D97-AF65-F5344CB8AC3E}">
        <p14:creationId xmlns:p14="http://schemas.microsoft.com/office/powerpoint/2010/main" val="1021643211"/>
      </p:ext>
    </p:extLst>
  </p:cSld>
</p:sld>
</file>

<file path=ppt/slides/slide5.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17" name="panel-89">
            <a:extLst xmlns:a="http://schemas.openxmlformats.org/drawingml/2006/main">
              <a:ext uri="{FF2B5EF4-FFF2-40B4-BE49-F238E27FC236}">
                <a16:creationId xmlns:a16="http://schemas.microsoft.com/office/drawing/2014/main" id="{1825246A-8056-4FA1-BDDA-5CAFFC67C926}"/>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90">
            <a:extLst xmlns:a="http://schemas.openxmlformats.org/drawingml/2006/main">
              <a:ext uri="{FF2B5EF4-FFF2-40B4-BE49-F238E27FC236}">
                <a16:creationId xmlns:a16="http://schemas.microsoft.com/office/drawing/2014/main" id="{D803AD81-CB6E-48D8-8686-9D6C69F36256}"/>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91">
            <a:extLst xmlns:a="http://schemas.openxmlformats.org/drawingml/2006/main">
              <a:ext uri="{FF2B5EF4-FFF2-40B4-BE49-F238E27FC236}">
                <a16:creationId xmlns:a16="http://schemas.microsoft.com/office/drawing/2014/main" id="{4E52A51A-A10B-435F-8A28-22718E88D79A}"/>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05 / 07     1:30</a:t>
            </a:r>
          </a:p>
        </p:txBody>
      </p:sp>
      <p:sp>
        <p:nvSpPr>
          <p:cNvPr id="4" name="text-92">
            <a:extLst xmlns:a="http://schemas.openxmlformats.org/drawingml/2006/main">
              <a:ext uri="{FF2B5EF4-FFF2-40B4-BE49-F238E27FC236}">
                <a16:creationId xmlns:a16="http://schemas.microsoft.com/office/drawing/2014/main" id="{C6E8CE45-7CD4-4B68-8F99-954434BC8541}"/>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Technical Challenge &amp; Solution</a:t>
            </a:r>
          </a:p>
        </p:txBody>
      </p:sp>
      <p:sp>
        <p:nvSpPr>
          <p:cNvPr id="5" name="text-93">
            <a:extLst xmlns:a="http://schemas.openxmlformats.org/drawingml/2006/main">
              <a:ext uri="{FF2B5EF4-FFF2-40B4-BE49-F238E27FC236}">
                <a16:creationId xmlns:a16="http://schemas.microsoft.com/office/drawing/2014/main" id="{CEB12054-F989-4095-AE7A-B2572B3593A4}"/>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fed998f0a0664f73"/>
              </a:rPr>
              <a:t>meloria.pp.ua</a:t>
            </a:r>
          </a:p>
        </p:txBody>
      </p:sp>
      <p:sp>
        <p:nvSpPr>
          <p:cNvPr id="6" name="text-94">
            <a:extLst xmlns:a="http://schemas.openxmlformats.org/drawingml/2006/main">
              <a:ext uri="{FF2B5EF4-FFF2-40B4-BE49-F238E27FC236}">
                <a16:creationId xmlns:a16="http://schemas.microsoft.com/office/drawing/2014/main" id="{B8AA182A-A889-420B-80B1-5ACDFC7FE42C}"/>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5346be2282444850"/>
              </a:rPr>
              <a:t>GitHub repository</a:t>
            </a:r>
          </a:p>
        </p:txBody>
      </p:sp>
      <p:sp>
        <p:nvSpPr>
          <p:cNvPr id="7" name="panel-95">
            <a:extLst xmlns:a="http://schemas.openxmlformats.org/drawingml/2006/main">
              <a:ext uri="{FF2B5EF4-FFF2-40B4-BE49-F238E27FC236}">
                <a16:creationId xmlns:a16="http://schemas.microsoft.com/office/drawing/2014/main" id="{79B30A2D-9CDB-4DBF-A7F4-05DBC9F2D708}"/>
              </a:ext>
            </a:extLst>
          </p:cNvPr>
          <p:cNvSpPr>
            <a:spLocks xmlns:a="http://schemas.openxmlformats.org/drawingml/2006/main" noGrp="1"/>
          </p:cNvSpPr>
          <p:nvPr/>
        </p:nvSpPr>
        <p:spPr>
          <a:xfrm xmlns:a="http://schemas.openxmlformats.org/drawingml/2006/main">
            <a:off x="685800" y="2038350"/>
            <a:ext cx="6096000" cy="5334000"/>
          </a:xfrm>
          <a:prstGeom xmlns:a="http://schemas.openxmlformats.org/drawingml/2006/main" prst="roundRect">
            <a:avLst>
              <a:gd name="adj" fmla="val 3929"/>
            </a:avLst>
          </a:prstGeom>
          <a:solidFill xmlns:a="http://schemas.openxmlformats.org/drawingml/2006/main">
            <a:srgbClr val="F3EFE9"/>
          </a:solidFill>
          <a:ln xmlns:a="http://schemas.openxmlformats.org/drawingml/2006/main" w="0">
            <a:noFill/>
          </a:ln>
        </p:spPr>
      </p:sp>
      <p:sp>
        <p:nvSpPr>
          <p:cNvPr id="8" name="text-96">
            <a:extLst xmlns:a="http://schemas.openxmlformats.org/drawingml/2006/main">
              <a:ext uri="{FF2B5EF4-FFF2-40B4-BE49-F238E27FC236}">
                <a16:creationId xmlns:a16="http://schemas.microsoft.com/office/drawing/2014/main" id="{8E88C335-24F2-4A18-B89F-237344A997B7}"/>
              </a:ext>
            </a:extLst>
          </p:cNvPr>
          <p:cNvSpPr>
            <a:spLocks xmlns:a="http://schemas.openxmlformats.org/drawingml/2006/main" noGrp="1"/>
          </p:cNvSpPr>
          <p:nvPr/>
        </p:nvSpPr>
        <p:spPr>
          <a:xfrm xmlns:a="http://schemas.openxmlformats.org/drawingml/2006/main">
            <a:off x="962025" y="2324100"/>
            <a:ext cx="5534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Checkout failed on the old address</a:t>
            </a:r>
          </a:p>
        </p:txBody>
      </p:sp>
      <p:sp>
        <p:nvSpPr>
          <p:cNvPr id="9" name="text-97">
            <a:extLst xmlns:a="http://schemas.openxmlformats.org/drawingml/2006/main">
              <a:ext uri="{FF2B5EF4-FFF2-40B4-BE49-F238E27FC236}">
                <a16:creationId xmlns:a16="http://schemas.microsoft.com/office/drawing/2014/main" id="{6B26ECD1-16C8-484B-924E-95FCE9895AD5}"/>
              </a:ext>
            </a:extLst>
          </p:cNvPr>
          <p:cNvSpPr>
            <a:spLocks xmlns:a="http://schemas.openxmlformats.org/drawingml/2006/main" noGrp="1"/>
          </p:cNvSpPr>
          <p:nvPr/>
        </p:nvSpPr>
        <p:spPr>
          <a:xfrm xmlns:a="http://schemas.openxmlformats.org/drawingml/2006/main">
            <a:off x="962025" y="2905125"/>
            <a:ext cx="542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22314A"/>
                </a:solidFill>
                <a:latin typeface="Lato"/>
                <a:ea typeface="Lato"/>
                <a:cs typeface="Lato"/>
              </a:defRPr>
            </a:defPPr>
          </a:lstStyle>
          <a:p xmlns:a="http://schemas.openxmlformats.org/drawingml/2006/main">
            <a:pPr>
              <a:defRPr sz="2250" b="0">
                <a:solidFill>
                  <a:srgbClr val="22314A"/>
                </a:solidFill>
                <a:latin typeface="Lato"/>
                <a:ea typeface="Lato"/>
                <a:cs typeface="Lato"/>
              </a:defRPr>
            </a:pPr>
            <a:r>
              <a:rPr sz="2250" b="0">
                <a:solidFill>
                  <a:srgbClr val="22314A"/>
                </a:solidFill>
                <a:latin typeface="Lato"/>
                <a:ea typeface="Lato"/>
                <a:cs typeface="Lato"/>
              </a:rPr>
              <a:t>The same shop worked on Vercel,</a:t>
            </a:r>
          </a:p>
          <a:p xmlns:a="http://schemas.openxmlformats.org/drawingml/2006/main">
            <a:pPr>
              <a:defRPr sz="2250" b="0">
                <a:solidFill>
                  <a:srgbClr val="22314A"/>
                </a:solidFill>
                <a:latin typeface="Lato"/>
                <a:ea typeface="Lato"/>
                <a:cs typeface="Lato"/>
              </a:defRPr>
            </a:pPr>
            <a:r>
              <a:rPr sz="2250" b="0">
                <a:solidFill>
                  <a:srgbClr val="22314A"/>
                </a:solidFill>
                <a:latin typeface="Lato"/>
                <a:ea typeface="Lato"/>
                <a:cs typeface="Lato"/>
              </a:rPr>
              <a:t>but failed on GitHub Pages.</a:t>
            </a:r>
          </a:p>
        </p:txBody>
      </p:sp>
      <p:sp>
        <p:nvSpPr>
          <p:cNvPr id="10" name="text-98">
            <a:extLst xmlns:a="http://schemas.openxmlformats.org/drawingml/2006/main">
              <a:ext uri="{FF2B5EF4-FFF2-40B4-BE49-F238E27FC236}">
                <a16:creationId xmlns:a16="http://schemas.microsoft.com/office/drawing/2014/main" id="{F289EE8A-E121-4F5C-82D0-AFA2CBC68568}"/>
              </a:ext>
            </a:extLst>
          </p:cNvPr>
          <p:cNvSpPr>
            <a:spLocks xmlns:a="http://schemas.openxmlformats.org/drawingml/2006/main" noGrp="1"/>
          </p:cNvSpPr>
          <p:nvPr/>
        </p:nvSpPr>
        <p:spPr>
          <a:xfrm xmlns:a="http://schemas.openxmlformats.org/drawingml/2006/main">
            <a:off x="962025" y="409575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Diagnosis</a:t>
            </a:r>
          </a:p>
        </p:txBody>
      </p:sp>
      <p:sp>
        <p:nvSpPr>
          <p:cNvPr id="11" name="text-99">
            <a:extLst xmlns:a="http://schemas.openxmlformats.org/drawingml/2006/main">
              <a:ext uri="{FF2B5EF4-FFF2-40B4-BE49-F238E27FC236}">
                <a16:creationId xmlns:a16="http://schemas.microsoft.com/office/drawing/2014/main" id="{951A15F0-4C6A-4593-8B9F-2742F980B940}"/>
              </a:ext>
            </a:extLst>
          </p:cNvPr>
          <p:cNvSpPr>
            <a:spLocks xmlns:a="http://schemas.openxmlformats.org/drawingml/2006/main" noGrp="1"/>
          </p:cNvSpPr>
          <p:nvPr/>
        </p:nvSpPr>
        <p:spPr>
          <a:xfrm xmlns:a="http://schemas.openxmlformats.org/drawingml/2006/main">
            <a:off x="962025" y="4562475"/>
            <a:ext cx="5334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Compare both addresses.</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Confirm the saved order and notification.</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Identify the missing server API.</a:t>
            </a:r>
          </a:p>
        </p:txBody>
      </p:sp>
      <p:sp>
        <p:nvSpPr>
          <p:cNvPr id="12" name="text-100">
            <a:extLst xmlns:a="http://schemas.openxmlformats.org/drawingml/2006/main">
              <a:ext uri="{FF2B5EF4-FFF2-40B4-BE49-F238E27FC236}">
                <a16:creationId xmlns:a16="http://schemas.microsoft.com/office/drawing/2014/main" id="{FF0E0F5F-8D2E-4872-A08B-3FCFA9BE891A}"/>
              </a:ext>
            </a:extLst>
          </p:cNvPr>
          <p:cNvSpPr>
            <a:spLocks xmlns:a="http://schemas.openxmlformats.org/drawingml/2006/main" noGrp="1"/>
          </p:cNvSpPr>
          <p:nvPr/>
        </p:nvSpPr>
        <p:spPr>
          <a:xfrm xmlns:a="http://schemas.openxmlformats.org/drawingml/2006/main">
            <a:off x="962025" y="60483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Solution</a:t>
            </a:r>
          </a:p>
        </p:txBody>
      </p:sp>
      <p:sp>
        <p:nvSpPr>
          <p:cNvPr id="13" name="text-101">
            <a:extLst xmlns:a="http://schemas.openxmlformats.org/drawingml/2006/main">
              <a:ext uri="{FF2B5EF4-FFF2-40B4-BE49-F238E27FC236}">
                <a16:creationId xmlns:a16="http://schemas.microsoft.com/office/drawing/2014/main" id="{274E3BDA-C09F-4F78-8C1F-450C4AEE1DD0}"/>
              </a:ext>
            </a:extLst>
          </p:cNvPr>
          <p:cNvSpPr>
            <a:spLocks xmlns:a="http://schemas.openxmlformats.org/drawingml/2006/main" noGrp="1"/>
          </p:cNvSpPr>
          <p:nvPr/>
        </p:nvSpPr>
        <p:spPr>
          <a:xfrm xmlns:a="http://schemas.openxmlformats.org/drawingml/2006/main">
            <a:off x="962025" y="65055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Redirect old links to the Vercel site.</a:t>
            </a:r>
          </a:p>
        </p:txBody>
      </p:sp>
      <p:pic>
        <p:nvPicPr>
          <p:cNvPr id="14" name="">
            <a:extLst xmlns:a="http://schemas.openxmlformats.org/drawingml/2006/main">
              <a:ext uri="{FF2B5EF4-FFF2-40B4-BE49-F238E27FC236}">
                <a16:creationId xmlns:a16="http://schemas.microsoft.com/office/drawing/2014/main" id="{9BA49D7F-6542-45D9-9F73-412DB609F02B}"/>
              </a:ext>
            </a:extLst>
          </p:cNvPr>
          <p:cNvPicPr>
            <a:picLocks xmlns:a="http://schemas.openxmlformats.org/drawingml/2006/main" noChangeAspect="1"/>
          </p:cNvPicPr>
          <p:nvPr/>
        </p:nvPicPr>
        <p:blipFill>
          <a:blip xmlns:r="http://schemas.openxmlformats.org/officeDocument/2006/relationships" xmlns:a="http://schemas.openxmlformats.org/drawingml/2006/main" r:embed="Ref76d531b14b42c3"/>
          <a:stretch xmlns:a="http://schemas.openxmlformats.org/drawingml/2006/main"/>
        </p:blipFill>
        <p:spPr>
          <a:xfrm xmlns:a="http://schemas.openxmlformats.org/drawingml/2006/main">
            <a:off x="7143750" y="2038648"/>
            <a:ext cx="7381875" cy="4152305"/>
          </a:xfrm>
          <a:prstGeom xmlns:a="http://schemas.openxmlformats.org/drawingml/2006/main" prst="roundRect">
            <a:avLst>
              <a:gd name="adj" fmla="val 4128"/>
            </a:avLst>
          </a:prstGeom>
        </p:spPr>
      </p:pic>
      <p:sp>
        <p:nvSpPr>
          <p:cNvPr id="15" name="panel-102">
            <a:extLst xmlns:a="http://schemas.openxmlformats.org/drawingml/2006/main">
              <a:ext uri="{FF2B5EF4-FFF2-40B4-BE49-F238E27FC236}">
                <a16:creationId xmlns:a16="http://schemas.microsoft.com/office/drawing/2014/main" id="{CB7BDB8A-3B9D-471F-9565-068D6B61E862}"/>
              </a:ext>
            </a:extLst>
          </p:cNvPr>
          <p:cNvSpPr>
            <a:spLocks xmlns:a="http://schemas.openxmlformats.org/drawingml/2006/main" noGrp="1"/>
          </p:cNvSpPr>
          <p:nvPr/>
        </p:nvSpPr>
        <p:spPr>
          <a:xfrm xmlns:a="http://schemas.openxmlformats.org/drawingml/2006/main">
            <a:off x="7143750" y="6477000"/>
            <a:ext cx="7381875" cy="895350"/>
          </a:xfrm>
          <a:prstGeom xmlns:a="http://schemas.openxmlformats.org/drawingml/2006/main" prst="roundRect">
            <a:avLst>
              <a:gd name="adj" fmla="val 18085"/>
            </a:avLst>
          </a:prstGeom>
          <a:solidFill xmlns:a="http://schemas.openxmlformats.org/drawingml/2006/main">
            <a:srgbClr val="EEF2F7"/>
          </a:solidFill>
          <a:ln xmlns:a="http://schemas.openxmlformats.org/drawingml/2006/main" w="0">
            <a:noFill/>
          </a:ln>
        </p:spPr>
      </p:sp>
      <p:sp>
        <p:nvSpPr>
          <p:cNvPr id="16" name="text-103">
            <a:extLst xmlns:a="http://schemas.openxmlformats.org/drawingml/2006/main">
              <a:ext uri="{FF2B5EF4-FFF2-40B4-BE49-F238E27FC236}">
                <a16:creationId xmlns:a16="http://schemas.microsoft.com/office/drawing/2014/main" id="{CCD94778-45D6-4AAD-8D37-5AE09FC4DFF8}"/>
              </a:ext>
            </a:extLst>
          </p:cNvPr>
          <p:cNvSpPr>
            <a:spLocks xmlns:a="http://schemas.openxmlformats.org/drawingml/2006/main" noGrp="1"/>
          </p:cNvSpPr>
          <p:nvPr/>
        </p:nvSpPr>
        <p:spPr>
          <a:xfrm xmlns:a="http://schemas.openxmlformats.org/drawingml/2006/main">
            <a:off x="7391400" y="6638925"/>
            <a:ext cx="6915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32345"/>
                </a:solidFill>
                <a:latin typeface="Lato"/>
                <a:ea typeface="Lato"/>
                <a:cs typeface="Lato"/>
              </a:defRPr>
            </a:defPPr>
          </a:lstStyle>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Result: customers reach the working checkout</a:t>
            </a:r>
          </a:p>
          <a:p xmlns:a="http://schemas.openxmlformats.org/drawingml/2006/main">
            <a:pPr>
              <a:defRPr sz="1875" b="1">
                <a:solidFill>
                  <a:srgbClr val="132345"/>
                </a:solidFill>
                <a:latin typeface="Lato"/>
                <a:ea typeface="Lato"/>
                <a:cs typeface="Lato"/>
              </a:defRPr>
            </a:pPr>
            <a:r>
              <a:rPr sz="1875" b="1">
                <a:solidFill>
                  <a:srgbClr val="132345"/>
                </a:solidFill>
                <a:latin typeface="Lato"/>
                <a:ea typeface="Lato"/>
                <a:cs typeface="Lato"/>
              </a:rPr>
              <a:t>I confirmed the order and Telegram message</a:t>
            </a:r>
          </a:p>
        </p:txBody>
      </p:sp>
    </p:spTree>
    <p:extLst>
      <p:ext uri="{BB962C8B-B14F-4D97-AF65-F5344CB8AC3E}">
        <p14:creationId xmlns:p14="http://schemas.microsoft.com/office/powerpoint/2010/main" val="1639236127"/>
      </p:ext>
    </p:extLst>
  </p:cSld>
</p:sld>
</file>

<file path=ppt/slides/slide6.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20" name="panel-104">
            <a:extLst xmlns:a="http://schemas.openxmlformats.org/drawingml/2006/main">
              <a:ext uri="{FF2B5EF4-FFF2-40B4-BE49-F238E27FC236}">
                <a16:creationId xmlns:a16="http://schemas.microsoft.com/office/drawing/2014/main" id="{558378D7-EA8E-4E76-806D-5EA2CC2524BD}"/>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105">
            <a:extLst xmlns:a="http://schemas.openxmlformats.org/drawingml/2006/main">
              <a:ext uri="{FF2B5EF4-FFF2-40B4-BE49-F238E27FC236}">
                <a16:creationId xmlns:a16="http://schemas.microsoft.com/office/drawing/2014/main" id="{D358C03F-6E26-44D5-BF6B-2DA4AE5C8246}"/>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106">
            <a:extLst xmlns:a="http://schemas.openxmlformats.org/drawingml/2006/main">
              <a:ext uri="{FF2B5EF4-FFF2-40B4-BE49-F238E27FC236}">
                <a16:creationId xmlns:a16="http://schemas.microsoft.com/office/drawing/2014/main" id="{982C3FF6-2EC6-4E51-A02F-D150C21B69E5}"/>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06 / 07     0:45</a:t>
            </a:r>
          </a:p>
        </p:txBody>
      </p:sp>
      <p:sp>
        <p:nvSpPr>
          <p:cNvPr id="4" name="text-107">
            <a:extLst xmlns:a="http://schemas.openxmlformats.org/drawingml/2006/main">
              <a:ext uri="{FF2B5EF4-FFF2-40B4-BE49-F238E27FC236}">
                <a16:creationId xmlns:a16="http://schemas.microsoft.com/office/drawing/2014/main" id="{6211AF5F-0733-44C0-BEC1-1181A4A75437}"/>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QA, Accessibility &amp; Ethics</a:t>
            </a:r>
          </a:p>
        </p:txBody>
      </p:sp>
      <p:sp>
        <p:nvSpPr>
          <p:cNvPr id="5" name="text-108">
            <a:extLst xmlns:a="http://schemas.openxmlformats.org/drawingml/2006/main">
              <a:ext uri="{FF2B5EF4-FFF2-40B4-BE49-F238E27FC236}">
                <a16:creationId xmlns:a16="http://schemas.microsoft.com/office/drawing/2014/main" id="{80A33673-4115-4847-BB3C-79B1BC3D2B1D}"/>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d3c020ecf8be4478"/>
              </a:rPr>
              <a:t>meloria.pp.ua</a:t>
            </a:r>
          </a:p>
        </p:txBody>
      </p:sp>
      <p:sp>
        <p:nvSpPr>
          <p:cNvPr id="6" name="text-109">
            <a:extLst xmlns:a="http://schemas.openxmlformats.org/drawingml/2006/main">
              <a:ext uri="{FF2B5EF4-FFF2-40B4-BE49-F238E27FC236}">
                <a16:creationId xmlns:a16="http://schemas.microsoft.com/office/drawing/2014/main" id="{4FB2339C-A0CB-48A9-BE78-67E42343C492}"/>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08193f6e3f334168"/>
              </a:rPr>
              <a:t>GitHub repository</a:t>
            </a:r>
          </a:p>
        </p:txBody>
      </p:sp>
      <p:sp>
        <p:nvSpPr>
          <p:cNvPr id="7" name="panel-110">
            <a:extLst xmlns:a="http://schemas.openxmlformats.org/drawingml/2006/main">
              <a:ext uri="{FF2B5EF4-FFF2-40B4-BE49-F238E27FC236}">
                <a16:creationId xmlns:a16="http://schemas.microsoft.com/office/drawing/2014/main" id="{68D1DA30-8004-4C77-B48C-4B0ECFDF3829}"/>
              </a:ext>
            </a:extLst>
          </p:cNvPr>
          <p:cNvSpPr>
            <a:spLocks xmlns:a="http://schemas.openxmlformats.org/drawingml/2006/main" noGrp="1"/>
          </p:cNvSpPr>
          <p:nvPr/>
        </p:nvSpPr>
        <p:spPr>
          <a:xfrm xmlns:a="http://schemas.openxmlformats.org/drawingml/2006/main">
            <a:off x="685800" y="2038350"/>
            <a:ext cx="4476750" cy="2286000"/>
          </a:xfrm>
          <a:prstGeom xmlns:a="http://schemas.openxmlformats.org/drawingml/2006/main" prst="roundRect">
            <a:avLst>
              <a:gd name="adj" fmla="val 9167"/>
            </a:avLst>
          </a:prstGeom>
          <a:solidFill xmlns:a="http://schemas.openxmlformats.org/drawingml/2006/main">
            <a:srgbClr val="132345"/>
          </a:solidFill>
          <a:ln xmlns:a="http://schemas.openxmlformats.org/drawingml/2006/main" w="0">
            <a:noFill/>
          </a:ln>
        </p:spPr>
      </p:sp>
      <p:sp>
        <p:nvSpPr>
          <p:cNvPr id="8" name="text-111">
            <a:extLst xmlns:a="http://schemas.openxmlformats.org/drawingml/2006/main">
              <a:ext uri="{FF2B5EF4-FFF2-40B4-BE49-F238E27FC236}">
                <a16:creationId xmlns:a16="http://schemas.microsoft.com/office/drawing/2014/main" id="{227BD673-470A-4F74-8F96-8FF9542DA0A0}"/>
              </a:ext>
            </a:extLst>
          </p:cNvPr>
          <p:cNvSpPr>
            <a:spLocks xmlns:a="http://schemas.openxmlformats.org/drawingml/2006/main" noGrp="1"/>
          </p:cNvSpPr>
          <p:nvPr/>
        </p:nvSpPr>
        <p:spPr>
          <a:xfrm xmlns:a="http://schemas.openxmlformats.org/drawingml/2006/main">
            <a:off x="981075" y="22383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FFFFFF"/>
                </a:solidFill>
                <a:latin typeface="Lato"/>
                <a:ea typeface="Lato"/>
                <a:cs typeface="Lato"/>
              </a:defRPr>
            </a:defPPr>
          </a:lstStyle>
          <a:p xmlns:a="http://schemas.openxmlformats.org/drawingml/2006/main">
            <a:pPr>
              <a:defRPr sz="6300" b="1">
                <a:solidFill>
                  <a:srgbClr val="FFFFFF"/>
                </a:solidFill>
                <a:latin typeface="Lato"/>
                <a:ea typeface="Lato"/>
                <a:cs typeface="Lato"/>
              </a:defRPr>
            </a:pPr>
            <a:r>
              <a:rPr sz="6300" b="1">
                <a:solidFill>
                  <a:srgbClr val="FFFFFF"/>
                </a:solidFill>
                <a:latin typeface="Lato"/>
                <a:ea typeface="Lato"/>
                <a:cs typeface="Lato"/>
              </a:rPr>
              <a:t>73</a:t>
            </a:r>
          </a:p>
        </p:txBody>
      </p:sp>
      <p:sp>
        <p:nvSpPr>
          <p:cNvPr id="9" name="text-112">
            <a:extLst xmlns:a="http://schemas.openxmlformats.org/drawingml/2006/main">
              <a:ext uri="{FF2B5EF4-FFF2-40B4-BE49-F238E27FC236}">
                <a16:creationId xmlns:a16="http://schemas.microsoft.com/office/drawing/2014/main" id="{26748CD9-F0A9-4090-951E-501F8A144B5D}"/>
              </a:ext>
            </a:extLst>
          </p:cNvPr>
          <p:cNvSpPr>
            <a:spLocks xmlns:a="http://schemas.openxmlformats.org/drawingml/2006/main" noGrp="1"/>
          </p:cNvSpPr>
          <p:nvPr/>
        </p:nvSpPr>
        <p:spPr>
          <a:xfrm xmlns:a="http://schemas.openxmlformats.org/drawingml/2006/main">
            <a:off x="1009650" y="32766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Lato"/>
                <a:ea typeface="Lato"/>
                <a:cs typeface="Lato"/>
              </a:defRPr>
            </a:defPPr>
          </a:lstStyle>
          <a:p xmlns:a="http://schemas.openxmlformats.org/drawingml/2006/main">
            <a:pPr>
              <a:defRPr sz="2175" b="1">
                <a:solidFill>
                  <a:srgbClr val="FFFFFF"/>
                </a:solidFill>
                <a:latin typeface="Lato"/>
                <a:ea typeface="Lato"/>
                <a:cs typeface="Lato"/>
              </a:defRPr>
            </a:pPr>
            <a:r>
              <a:rPr sz="2175" b="1">
                <a:solidFill>
                  <a:srgbClr val="FFFFFF"/>
                </a:solidFill>
                <a:latin typeface="Lato"/>
                <a:ea typeface="Lato"/>
                <a:cs typeface="Lato"/>
              </a:rPr>
              <a:t>automated tests passed</a:t>
            </a:r>
          </a:p>
        </p:txBody>
      </p:sp>
      <p:sp>
        <p:nvSpPr>
          <p:cNvPr id="10" name="text-113">
            <a:extLst xmlns:a="http://schemas.openxmlformats.org/drawingml/2006/main">
              <a:ext uri="{FF2B5EF4-FFF2-40B4-BE49-F238E27FC236}">
                <a16:creationId xmlns:a16="http://schemas.microsoft.com/office/drawing/2014/main" id="{C2E4B4EC-A1CB-4DF3-9995-8DB6C09BD7B9}"/>
              </a:ext>
            </a:extLst>
          </p:cNvPr>
          <p:cNvSpPr>
            <a:spLocks xmlns:a="http://schemas.openxmlformats.org/drawingml/2006/main" noGrp="1"/>
          </p:cNvSpPr>
          <p:nvPr/>
        </p:nvSpPr>
        <p:spPr>
          <a:xfrm xmlns:a="http://schemas.openxmlformats.org/drawingml/2006/main">
            <a:off x="1009650" y="38195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DDE5EF"/>
                </a:solidFill>
                <a:latin typeface="Lato"/>
                <a:ea typeface="Lato"/>
                <a:cs typeface="Lato"/>
              </a:defRPr>
            </a:defPPr>
          </a:lstStyle>
          <a:p xmlns:a="http://schemas.openxmlformats.org/drawingml/2006/main">
            <a:pPr>
              <a:defRPr sz="1575" b="0">
                <a:solidFill>
                  <a:srgbClr val="DDE5EF"/>
                </a:solidFill>
                <a:latin typeface="Lato"/>
                <a:ea typeface="Lato"/>
                <a:cs typeface="Lato"/>
              </a:defRPr>
            </a:pPr>
            <a:r>
              <a:rPr sz="1575" b="0">
                <a:solidFill>
                  <a:srgbClr val="DDE5EF"/>
                </a:solidFill>
                <a:latin typeface="Lato"/>
                <a:ea typeface="Lato"/>
                <a:cs typeface="Lato"/>
              </a:rPr>
              <a:t>Recorded verification: 15 Oct 2026</a:t>
            </a:r>
          </a:p>
        </p:txBody>
      </p:sp>
      <p:sp>
        <p:nvSpPr>
          <p:cNvPr id="11" name="text-114">
            <a:extLst xmlns:a="http://schemas.openxmlformats.org/drawingml/2006/main">
              <a:ext uri="{FF2B5EF4-FFF2-40B4-BE49-F238E27FC236}">
                <a16:creationId xmlns:a16="http://schemas.microsoft.com/office/drawing/2014/main" id="{24E97E8B-0687-4E03-B851-8087828EB765}"/>
              </a:ext>
            </a:extLst>
          </p:cNvPr>
          <p:cNvSpPr>
            <a:spLocks xmlns:a="http://schemas.openxmlformats.org/drawingml/2006/main" noGrp="1"/>
          </p:cNvSpPr>
          <p:nvPr/>
        </p:nvSpPr>
        <p:spPr>
          <a:xfrm xmlns:a="http://schemas.openxmlformats.org/drawingml/2006/main">
            <a:off x="685800" y="46577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Quality checks</a:t>
            </a:r>
          </a:p>
        </p:txBody>
      </p:sp>
      <p:sp>
        <p:nvSpPr>
          <p:cNvPr id="12" name="text-115">
            <a:extLst xmlns:a="http://schemas.openxmlformats.org/drawingml/2006/main">
              <a:ext uri="{FF2B5EF4-FFF2-40B4-BE49-F238E27FC236}">
                <a16:creationId xmlns:a16="http://schemas.microsoft.com/office/drawing/2014/main" id="{9313AC22-F5E2-4499-B1EE-8B2EDFA86926}"/>
              </a:ext>
            </a:extLst>
          </p:cNvPr>
          <p:cNvSpPr>
            <a:spLocks xmlns:a="http://schemas.openxmlformats.org/drawingml/2006/main" noGrp="1"/>
          </p:cNvSpPr>
          <p:nvPr/>
        </p:nvSpPr>
        <p:spPr>
          <a:xfrm xmlns:a="http://schemas.openxmlformats.org/drawingml/2006/main">
            <a:off x="685800" y="5153025"/>
            <a:ext cx="4572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22314A"/>
                </a:solidFill>
                <a:latin typeface="Lato"/>
                <a:ea typeface="Lato"/>
                <a:cs typeface="Lato"/>
              </a:defRPr>
            </a:defPPr>
          </a:lstStyle>
          <a:p xmlns:a="http://schemas.openxmlformats.org/drawingml/2006/main">
            <a:pPr>
              <a:defRPr sz="2025" b="0">
                <a:solidFill>
                  <a:srgbClr val="22314A"/>
                </a:solidFill>
                <a:latin typeface="Lato"/>
                <a:ea typeface="Lato"/>
                <a:cs typeface="Lato"/>
              </a:defRPr>
            </a:pPr>
            <a:r>
              <a:rPr sz="2025" b="0">
                <a:solidFill>
                  <a:srgbClr val="22314A"/>
                </a:solidFill>
                <a:latin typeface="Lato"/>
                <a:ea typeface="Lato"/>
                <a:cs typeface="Lato"/>
              </a:rPr>
              <a:t>Production build, lint and TypeScript</a:t>
            </a:r>
          </a:p>
          <a:p xmlns:a="http://schemas.openxmlformats.org/drawingml/2006/main">
            <a:pPr>
              <a:defRPr sz="2025" b="0">
                <a:solidFill>
                  <a:srgbClr val="22314A"/>
                </a:solidFill>
                <a:latin typeface="Lato"/>
                <a:ea typeface="Lato"/>
                <a:cs typeface="Lato"/>
              </a:defRPr>
            </a:pPr>
            <a:r>
              <a:rPr sz="2025" b="0">
                <a:solidFill>
                  <a:srgbClr val="22314A"/>
                </a:solidFill>
                <a:latin typeface="Lato"/>
                <a:ea typeface="Lato"/>
                <a:cs typeface="Lato"/>
              </a:rPr>
              <a:t>Loading, empty and error states</a:t>
            </a:r>
          </a:p>
          <a:p xmlns:a="http://schemas.openxmlformats.org/drawingml/2006/main">
            <a:pPr>
              <a:defRPr sz="2025" b="0">
                <a:solidFill>
                  <a:srgbClr val="22314A"/>
                </a:solidFill>
                <a:latin typeface="Lato"/>
                <a:ea typeface="Lato"/>
                <a:cs typeface="Lato"/>
              </a:defRPr>
            </a:pPr>
            <a:r>
              <a:rPr sz="2025" b="0">
                <a:solidFill>
                  <a:srgbClr val="22314A"/>
                </a:solidFill>
                <a:latin typeface="Lato"/>
                <a:ea typeface="Lato"/>
                <a:cs typeface="Lato"/>
              </a:rPr>
              <a:t>Mobile and desktop browser checks</a:t>
            </a:r>
          </a:p>
        </p:txBody>
      </p:sp>
      <p:sp>
        <p:nvSpPr>
          <p:cNvPr id="13" name="text-116">
            <a:extLst xmlns:a="http://schemas.openxmlformats.org/drawingml/2006/main">
              <a:ext uri="{FF2B5EF4-FFF2-40B4-BE49-F238E27FC236}">
                <a16:creationId xmlns:a16="http://schemas.microsoft.com/office/drawing/2014/main" id="{CDA020E7-F4E1-4E27-8685-B4D247224358}"/>
              </a:ext>
            </a:extLst>
          </p:cNvPr>
          <p:cNvSpPr>
            <a:spLocks xmlns:a="http://schemas.openxmlformats.org/drawingml/2006/main" noGrp="1"/>
          </p:cNvSpPr>
          <p:nvPr/>
        </p:nvSpPr>
        <p:spPr>
          <a:xfrm xmlns:a="http://schemas.openxmlformats.org/drawingml/2006/main">
            <a:off x="5734050" y="20383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Accessibility</a:t>
            </a:r>
          </a:p>
        </p:txBody>
      </p:sp>
      <p:sp>
        <p:nvSpPr>
          <p:cNvPr id="14" name="text-117">
            <a:extLst xmlns:a="http://schemas.openxmlformats.org/drawingml/2006/main">
              <a:ext uri="{FF2B5EF4-FFF2-40B4-BE49-F238E27FC236}">
                <a16:creationId xmlns:a16="http://schemas.microsoft.com/office/drawing/2014/main" id="{4819A642-72AD-4F52-9162-A7E8286DF326}"/>
              </a:ext>
            </a:extLst>
          </p:cNvPr>
          <p:cNvSpPr>
            <a:spLocks xmlns:a="http://schemas.openxmlformats.org/drawingml/2006/main" noGrp="1"/>
          </p:cNvSpPr>
          <p:nvPr/>
        </p:nvSpPr>
        <p:spPr>
          <a:xfrm xmlns:a="http://schemas.openxmlformats.org/drawingml/2006/main">
            <a:off x="5734050" y="2514600"/>
            <a:ext cx="838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Native buttons, labels and visible focus</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Keyboard navigation improvements</a:t>
            </a:r>
          </a:p>
        </p:txBody>
      </p:sp>
      <p:sp>
        <p:nvSpPr>
          <p:cNvPr id="15" name="text-118">
            <a:extLst xmlns:a="http://schemas.openxmlformats.org/drawingml/2006/main">
              <a:ext uri="{FF2B5EF4-FFF2-40B4-BE49-F238E27FC236}">
                <a16:creationId xmlns:a16="http://schemas.microsoft.com/office/drawing/2014/main" id="{4F3DBC14-4B92-4F36-A9B7-6F93E8A5A551}"/>
              </a:ext>
            </a:extLst>
          </p:cNvPr>
          <p:cNvSpPr>
            <a:spLocks xmlns:a="http://schemas.openxmlformats.org/drawingml/2006/main" noGrp="1"/>
          </p:cNvSpPr>
          <p:nvPr/>
        </p:nvSpPr>
        <p:spPr>
          <a:xfrm xmlns:a="http://schemas.openxmlformats.org/drawingml/2006/main">
            <a:off x="5734050" y="368617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Data privacy &amp; AI</a:t>
            </a:r>
          </a:p>
        </p:txBody>
      </p:sp>
      <p:sp>
        <p:nvSpPr>
          <p:cNvPr id="16" name="text-119">
            <a:extLst xmlns:a="http://schemas.openxmlformats.org/drawingml/2006/main">
              <a:ext uri="{FF2B5EF4-FFF2-40B4-BE49-F238E27FC236}">
                <a16:creationId xmlns:a16="http://schemas.microsoft.com/office/drawing/2014/main" id="{6BBAAA7B-EDEF-4E22-9030-96D2A50BA060}"/>
              </a:ext>
            </a:extLst>
          </p:cNvPr>
          <p:cNvSpPr>
            <a:spLocks xmlns:a="http://schemas.openxmlformats.org/drawingml/2006/main" noGrp="1"/>
          </p:cNvSpPr>
          <p:nvPr/>
        </p:nvSpPr>
        <p:spPr>
          <a:xfrm xmlns:a="http://schemas.openxmlformats.org/drawingml/2006/main">
            <a:off x="5734050" y="4171950"/>
            <a:ext cx="8524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22314A"/>
                </a:solidFill>
                <a:latin typeface="Lato"/>
                <a:ea typeface="Lato"/>
                <a:cs typeface="Lato"/>
              </a:defRPr>
            </a:defPPr>
          </a:lstStyle>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Synthetic data for tests and demos</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Private server credentials and order access</a:t>
            </a:r>
          </a:p>
          <a:p xmlns:a="http://schemas.openxmlformats.org/drawingml/2006/main">
            <a:pPr>
              <a:defRPr sz="2100" b="0">
                <a:solidFill>
                  <a:srgbClr val="22314A"/>
                </a:solidFill>
                <a:latin typeface="Lato"/>
                <a:ea typeface="Lato"/>
                <a:cs typeface="Lato"/>
              </a:defRPr>
            </a:pPr>
            <a:r>
              <a:rPr sz="2100" b="0">
                <a:solidFill>
                  <a:srgbClr val="22314A"/>
                </a:solidFill>
                <a:latin typeface="Lato"/>
                <a:ea typeface="Lato"/>
                <a:cs typeface="Lato"/>
              </a:rPr>
              <a:t>AI assistance disclosed. I review the changes</a:t>
            </a:r>
          </a:p>
        </p:txBody>
      </p:sp>
      <p:sp>
        <p:nvSpPr>
          <p:cNvPr id="17" name="panel-120">
            <a:extLst xmlns:a="http://schemas.openxmlformats.org/drawingml/2006/main">
              <a:ext uri="{FF2B5EF4-FFF2-40B4-BE49-F238E27FC236}">
                <a16:creationId xmlns:a16="http://schemas.microsoft.com/office/drawing/2014/main" id="{45FAE0E3-440B-44AF-9908-070312699858}"/>
              </a:ext>
            </a:extLst>
          </p:cNvPr>
          <p:cNvSpPr>
            <a:spLocks xmlns:a="http://schemas.openxmlformats.org/drawingml/2006/main" noGrp="1"/>
          </p:cNvSpPr>
          <p:nvPr/>
        </p:nvSpPr>
        <p:spPr>
          <a:xfrm xmlns:a="http://schemas.openxmlformats.org/drawingml/2006/main">
            <a:off x="5734050" y="5867400"/>
            <a:ext cx="8791575" cy="1009650"/>
          </a:xfrm>
          <a:prstGeom xmlns:a="http://schemas.openxmlformats.org/drawingml/2006/main" prst="roundRect">
            <a:avLst>
              <a:gd name="adj" fmla="val 16038"/>
            </a:avLst>
          </a:prstGeom>
          <a:solidFill xmlns:a="http://schemas.openxmlformats.org/drawingml/2006/main">
            <a:srgbClr val="F3EFE9"/>
          </a:solidFill>
          <a:ln xmlns:a="http://schemas.openxmlformats.org/drawingml/2006/main" w="0">
            <a:noFill/>
          </a:ln>
        </p:spPr>
      </p:sp>
      <p:sp>
        <p:nvSpPr>
          <p:cNvPr id="18" name="text-121">
            <a:extLst xmlns:a="http://schemas.openxmlformats.org/drawingml/2006/main">
              <a:ext uri="{FF2B5EF4-FFF2-40B4-BE49-F238E27FC236}">
                <a16:creationId xmlns:a16="http://schemas.microsoft.com/office/drawing/2014/main" id="{C02E321C-829C-47A3-BD75-B31664F50DB5}"/>
              </a:ext>
            </a:extLst>
          </p:cNvPr>
          <p:cNvSpPr>
            <a:spLocks xmlns:a="http://schemas.openxmlformats.org/drawingml/2006/main" noGrp="1"/>
          </p:cNvSpPr>
          <p:nvPr/>
        </p:nvSpPr>
        <p:spPr>
          <a:xfrm xmlns:a="http://schemas.openxmlformats.org/drawingml/2006/main">
            <a:off x="5981700" y="6067425"/>
            <a:ext cx="8258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22314A"/>
                </a:solidFill>
                <a:latin typeface="Lato"/>
                <a:ea typeface="Lato"/>
                <a:cs typeface="Lato"/>
              </a:defRPr>
            </a:defPPr>
          </a:lstStyle>
          <a:p xmlns:a="http://schemas.openxmlformats.org/drawingml/2006/main">
            <a:pPr>
              <a:defRPr sz="1950" b="0">
                <a:solidFill>
                  <a:srgbClr val="22314A"/>
                </a:solidFill>
                <a:latin typeface="Lato"/>
                <a:ea typeface="Lato"/>
                <a:cs typeface="Lato"/>
              </a:defRPr>
            </a:pPr>
            <a:r>
              <a:rPr sz="1950" b="0">
                <a:solidFill>
                  <a:srgbClr val="22314A"/>
                </a:solidFill>
                <a:latin typeface="Lato"/>
                <a:ea typeface="Lato"/>
                <a:cs typeface="Lato"/>
              </a:rPr>
              <a:t>No Lighthouse score recorded</a:t>
            </a:r>
          </a:p>
          <a:p xmlns:a="http://schemas.openxmlformats.org/drawingml/2006/main">
            <a:pPr>
              <a:defRPr sz="1950" b="0">
                <a:solidFill>
                  <a:srgbClr val="22314A"/>
                </a:solidFill>
                <a:latin typeface="Lato"/>
                <a:ea typeface="Lato"/>
                <a:cs typeface="Lato"/>
              </a:defRPr>
            </a:pPr>
            <a:r>
              <a:rPr sz="1950" b="0">
                <a:solidFill>
                  <a:srgbClr val="22314A"/>
                </a:solidFill>
                <a:latin typeface="Lato"/>
                <a:ea typeface="Lato"/>
                <a:cs typeface="Lato"/>
              </a:rPr>
              <a:t>Full contrast and screen reader audits remain</a:t>
            </a:r>
          </a:p>
        </p:txBody>
      </p:sp>
      <p:sp>
        <p:nvSpPr>
          <p:cNvPr id="19" name="text-122">
            <a:extLst xmlns:a="http://schemas.openxmlformats.org/drawingml/2006/main">
              <a:ext uri="{FF2B5EF4-FFF2-40B4-BE49-F238E27FC236}">
                <a16:creationId xmlns:a16="http://schemas.microsoft.com/office/drawing/2014/main" id="{D918BABA-B273-4F97-9ECA-6C0E4600A9E8}"/>
              </a:ext>
            </a:extLst>
          </p:cNvPr>
          <p:cNvSpPr>
            <a:spLocks xmlns:a="http://schemas.openxmlformats.org/drawingml/2006/main" noGrp="1"/>
          </p:cNvSpPr>
          <p:nvPr/>
        </p:nvSpPr>
        <p:spPr>
          <a:xfrm xmlns:a="http://schemas.openxmlformats.org/drawingml/2006/main">
            <a:off x="5734050" y="71532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132345"/>
                </a:solidFill>
                <a:latin typeface="Lato"/>
                <a:ea typeface="Lato"/>
                <a:cs typeface="Lato"/>
              </a:defRPr>
            </a:defPPr>
          </a:lstStyle>
          <a:p xmlns:a="http://schemas.openxmlformats.org/drawingml/2006/main">
            <a:pPr>
              <a:defRPr sz="1800" b="1">
                <a:solidFill>
                  <a:srgbClr val="132345"/>
                </a:solidFill>
                <a:latin typeface="Lato"/>
                <a:ea typeface="Lato"/>
                <a:cs typeface="Lato"/>
              </a:defRPr>
            </a:pPr>
            <a:r>
              <a:rPr sz="1800" b="1">
                <a:solidFill>
                  <a:srgbClr val="132345"/>
                </a:solidFill>
                <a:latin typeface="Lato"/>
                <a:ea typeface="Lato"/>
                <a:cs typeface="Lato"/>
                <a:hlinkClick xmlns:r="http://schemas.openxmlformats.org/officeDocument/2006/relationships" r:id="R58a481a51eb04609"/>
              </a:rPr>
              <a:t>View QA report</a:t>
            </a:r>
          </a:p>
        </p:txBody>
      </p:sp>
    </p:spTree>
    <p:extLst>
      <p:ext uri="{BB962C8B-B14F-4D97-AF65-F5344CB8AC3E}">
        <p14:creationId xmlns:p14="http://schemas.microsoft.com/office/powerpoint/2010/main" val="1802815083"/>
      </p:ext>
    </p:extLst>
  </p:cSld>
</p:sld>
</file>

<file path=ppt/slides/slide7.xml><?xml version="1.0" encoding="utf-8"?>
<p:sld xmlns:p="http://schemas.openxmlformats.org/presentationml/2006/main">
  <p:cSld>
    <p:bg>
      <p:bgPr>
        <a:solidFill xmlns:a="http://schemas.openxmlformats.org/drawingml/2006/main">
          <a:srgbClr val="F3EFE9"/>
        </a:solidFill>
      </p:bgPr>
    </p:bg>
    <p:spTree>
      <p:nvGrpSpPr>
        <p:cNvPr id="1" name=""/>
        <p:cNvGrpSpPr/>
        <p:nvPr/>
      </p:nvGrpSpPr>
      <p:grpSpPr>
        <a:xfrm xmlns:a="http://schemas.openxmlformats.org/drawingml/2006/main"/>
      </p:grpSpPr>
      <p:sp>
        <p:nvSpPr>
          <p:cNvPr id="15" name="panel-123">
            <a:extLst xmlns:a="http://schemas.openxmlformats.org/drawingml/2006/main">
              <a:ext uri="{FF2B5EF4-FFF2-40B4-BE49-F238E27FC236}">
                <a16:creationId xmlns:a16="http://schemas.microsoft.com/office/drawing/2014/main" id="{90CD16C3-865B-4517-952E-3C356A27E63A}"/>
              </a:ext>
            </a:extLst>
          </p:cNvPr>
          <p:cNvSpPr>
            <a:spLocks xmlns:a="http://schemas.openxmlformats.org/drawingml/2006/main" noGrp="1"/>
          </p:cNvSpPr>
          <p:nvPr/>
        </p:nvSpPr>
        <p:spPr>
          <a:xfrm xmlns:a="http://schemas.openxmlformats.org/drawingml/2006/main">
            <a:off x="304800" y="266700"/>
            <a:ext cx="14630400" cy="8039100"/>
          </a:xfrm>
          <a:prstGeom xmlns:a="http://schemas.openxmlformats.org/drawingml/2006/main" prst="roundRect">
            <a:avLst>
              <a:gd name="adj" fmla="val 3081"/>
            </a:avLst>
          </a:prstGeom>
          <a:solidFill xmlns:a="http://schemas.openxmlformats.org/drawingml/2006/main">
            <a:srgbClr val="FFFFFF"/>
          </a:solidFill>
          <a:ln xmlns:a="http://schemas.openxmlformats.org/drawingml/2006/main" w="0">
            <a:noFill/>
          </a:ln>
        </p:spPr>
      </p:sp>
      <p:sp>
        <p:nvSpPr>
          <p:cNvPr id="2" name="text-124">
            <a:extLst xmlns:a="http://schemas.openxmlformats.org/drawingml/2006/main">
              <a:ext uri="{FF2B5EF4-FFF2-40B4-BE49-F238E27FC236}">
                <a16:creationId xmlns:a16="http://schemas.microsoft.com/office/drawing/2014/main" id="{988E6DB3-D09A-4373-9E92-4816F98E5D81}"/>
              </a:ext>
            </a:extLst>
          </p:cNvPr>
          <p:cNvSpPr>
            <a:spLocks xmlns:a="http://schemas.openxmlformats.org/drawingml/2006/main" noGrp="1"/>
          </p:cNvSpPr>
          <p:nvPr/>
        </p:nvSpPr>
        <p:spPr>
          <a:xfrm xmlns:a="http://schemas.openxmlformats.org/drawingml/2006/main">
            <a:off x="685800" y="5143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32345"/>
                </a:solidFill>
                <a:latin typeface="Lato"/>
                <a:ea typeface="Lato"/>
                <a:cs typeface="Lato"/>
              </a:defRPr>
            </a:defPPr>
          </a:lstStyle>
          <a:p xmlns:a="http://schemas.openxmlformats.org/drawingml/2006/main">
            <a:pPr>
              <a:defRPr sz="1950" b="1">
                <a:solidFill>
                  <a:srgbClr val="132345"/>
                </a:solidFill>
                <a:latin typeface="Lato"/>
                <a:ea typeface="Lato"/>
                <a:cs typeface="Lato"/>
              </a:defRPr>
            </a:pPr>
            <a:r>
              <a:rPr sz="1950" b="1">
                <a:solidFill>
                  <a:srgbClr val="132345"/>
                </a:solidFill>
                <a:latin typeface="Lato"/>
                <a:ea typeface="Lato"/>
                <a:cs typeface="Lato"/>
              </a:rPr>
              <a:t>MELORIA</a:t>
            </a:r>
          </a:p>
        </p:txBody>
      </p:sp>
      <p:sp>
        <p:nvSpPr>
          <p:cNvPr id="3" name="text-125">
            <a:extLst xmlns:a="http://schemas.openxmlformats.org/drawingml/2006/main">
              <a:ext uri="{FF2B5EF4-FFF2-40B4-BE49-F238E27FC236}">
                <a16:creationId xmlns:a16="http://schemas.microsoft.com/office/drawing/2014/main" id="{5AEC9935-80F0-44AC-9BD2-9F90C0D77896}"/>
              </a:ext>
            </a:extLst>
          </p:cNvPr>
          <p:cNvSpPr>
            <a:spLocks xmlns:a="http://schemas.openxmlformats.org/drawingml/2006/main" noGrp="1"/>
          </p:cNvSpPr>
          <p:nvPr/>
        </p:nvSpPr>
        <p:spPr>
          <a:xfrm xmlns:a="http://schemas.openxmlformats.org/drawingml/2006/main">
            <a:off x="12382500" y="5524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596578"/>
                </a:solidFill>
                <a:latin typeface="Lato"/>
                <a:ea typeface="Lato"/>
                <a:cs typeface="Lato"/>
              </a:defRPr>
            </a:defPPr>
          </a:lstStyle>
          <a:p xmlns:a="http://schemas.openxmlformats.org/drawingml/2006/main">
            <a:pPr>
              <a:defRPr sz="1500" b="0">
                <a:solidFill>
                  <a:srgbClr val="596578"/>
                </a:solidFill>
                <a:latin typeface="Lato"/>
                <a:ea typeface="Lato"/>
                <a:cs typeface="Lato"/>
              </a:defRPr>
            </a:pPr>
            <a:r>
              <a:rPr sz="1500" b="0">
                <a:solidFill>
                  <a:srgbClr val="596578"/>
                </a:solidFill>
                <a:latin typeface="Lato"/>
                <a:ea typeface="Lato"/>
                <a:cs typeface="Lato"/>
              </a:rPr>
              <a:t>07 / 07     0:45</a:t>
            </a:r>
          </a:p>
        </p:txBody>
      </p:sp>
      <p:sp>
        <p:nvSpPr>
          <p:cNvPr id="4" name="text-126">
            <a:extLst xmlns:a="http://schemas.openxmlformats.org/drawingml/2006/main">
              <a:ext uri="{FF2B5EF4-FFF2-40B4-BE49-F238E27FC236}">
                <a16:creationId xmlns:a16="http://schemas.microsoft.com/office/drawing/2014/main" id="{6DFC4676-BABD-4C9D-8846-B189CB3CEBAD}"/>
              </a:ext>
            </a:extLst>
          </p:cNvPr>
          <p:cNvSpPr>
            <a:spLocks xmlns:a="http://schemas.openxmlformats.org/drawingml/2006/main" noGrp="1"/>
          </p:cNvSpPr>
          <p:nvPr/>
        </p:nvSpPr>
        <p:spPr>
          <a:xfrm xmlns:a="http://schemas.openxmlformats.org/drawingml/2006/main">
            <a:off x="685800" y="108585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132345"/>
                </a:solidFill>
                <a:latin typeface="Lato"/>
                <a:ea typeface="Lato"/>
                <a:cs typeface="Lato"/>
              </a:defRPr>
            </a:defPPr>
          </a:lstStyle>
          <a:p xmlns:a="http://schemas.openxmlformats.org/drawingml/2006/main">
            <a:pPr>
              <a:defRPr sz="3600" b="1">
                <a:solidFill>
                  <a:srgbClr val="132345"/>
                </a:solidFill>
                <a:latin typeface="Lato"/>
                <a:ea typeface="Lato"/>
                <a:cs typeface="Lato"/>
              </a:defRPr>
            </a:pPr>
            <a:r>
              <a:rPr sz="3600" b="1">
                <a:solidFill>
                  <a:srgbClr val="132345"/>
                </a:solidFill>
                <a:latin typeface="Lato"/>
                <a:ea typeface="Lato"/>
                <a:cs typeface="Lato"/>
              </a:rPr>
              <a:t>Reflection &amp; Future Outlook</a:t>
            </a:r>
          </a:p>
        </p:txBody>
      </p:sp>
      <p:sp>
        <p:nvSpPr>
          <p:cNvPr id="5" name="text-127">
            <a:extLst xmlns:a="http://schemas.openxmlformats.org/drawingml/2006/main">
              <a:ext uri="{FF2B5EF4-FFF2-40B4-BE49-F238E27FC236}">
                <a16:creationId xmlns:a16="http://schemas.microsoft.com/office/drawing/2014/main" id="{E1AC377D-F376-4952-88D8-D7C4E6D4F05E}"/>
              </a:ext>
            </a:extLst>
          </p:cNvPr>
          <p:cNvSpPr>
            <a:spLocks xmlns:a="http://schemas.openxmlformats.org/drawingml/2006/main" noGrp="1"/>
          </p:cNvSpPr>
          <p:nvPr/>
        </p:nvSpPr>
        <p:spPr>
          <a:xfrm xmlns:a="http://schemas.openxmlformats.org/drawingml/2006/main">
            <a:off x="685800" y="78486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edfa795dfc9c4d54"/>
              </a:rPr>
              <a:t>meloria.pp.ua</a:t>
            </a:r>
          </a:p>
        </p:txBody>
      </p:sp>
      <p:sp>
        <p:nvSpPr>
          <p:cNvPr id="6" name="text-128">
            <a:extLst xmlns:a="http://schemas.openxmlformats.org/drawingml/2006/main">
              <a:ext uri="{FF2B5EF4-FFF2-40B4-BE49-F238E27FC236}">
                <a16:creationId xmlns:a16="http://schemas.microsoft.com/office/drawing/2014/main" id="{AD6CCA97-2850-43AC-B0DC-752C8D3E773E}"/>
              </a:ext>
            </a:extLst>
          </p:cNvPr>
          <p:cNvSpPr>
            <a:spLocks xmlns:a="http://schemas.openxmlformats.org/drawingml/2006/main" noGrp="1"/>
          </p:cNvSpPr>
          <p:nvPr/>
        </p:nvSpPr>
        <p:spPr>
          <a:xfrm xmlns:a="http://schemas.openxmlformats.org/drawingml/2006/main">
            <a:off x="11734800" y="784860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132345"/>
                </a:solidFill>
                <a:latin typeface="Lato"/>
                <a:ea typeface="Lato"/>
                <a:cs typeface="Lato"/>
              </a:defRPr>
            </a:defPPr>
          </a:lstStyle>
          <a:p xmlns:a="http://schemas.openxmlformats.org/drawingml/2006/main">
            <a:pPr>
              <a:defRPr sz="1500" b="1">
                <a:solidFill>
                  <a:srgbClr val="132345"/>
                </a:solidFill>
                <a:latin typeface="Lato"/>
                <a:ea typeface="Lato"/>
                <a:cs typeface="Lato"/>
              </a:defRPr>
            </a:pPr>
            <a:r>
              <a:rPr sz="1500" b="1">
                <a:solidFill>
                  <a:srgbClr val="132345"/>
                </a:solidFill>
                <a:latin typeface="Lato"/>
                <a:ea typeface="Lato"/>
                <a:cs typeface="Lato"/>
                <a:hlinkClick xmlns:r="http://schemas.openxmlformats.org/officeDocument/2006/relationships" r:id="R4164562f038742f1"/>
              </a:rPr>
              <a:t>GitHub repository</a:t>
            </a:r>
          </a:p>
        </p:txBody>
      </p:sp>
      <p:pic>
        <p:nvPicPr>
          <p:cNvPr id="7" name="">
            <a:extLst xmlns:a="http://schemas.openxmlformats.org/drawingml/2006/main">
              <a:ext uri="{FF2B5EF4-FFF2-40B4-BE49-F238E27FC236}">
                <a16:creationId xmlns:a16="http://schemas.microsoft.com/office/drawing/2014/main" id="{391D9E49-E064-479B-AB49-B49A36A53F1D}"/>
              </a:ext>
            </a:extLst>
          </p:cNvPr>
          <p:cNvPicPr>
            <a:picLocks xmlns:a="http://schemas.openxmlformats.org/drawingml/2006/main" noChangeAspect="1"/>
          </p:cNvPicPr>
          <p:nvPr/>
        </p:nvPicPr>
        <p:blipFill>
          <a:blip xmlns:r="http://schemas.openxmlformats.org/officeDocument/2006/relationships" xmlns:a="http://schemas.openxmlformats.org/drawingml/2006/main" r:embed="Rb11e304bbb444f9d"/>
          <a:stretch xmlns:a="http://schemas.openxmlformats.org/drawingml/2006/main"/>
        </p:blipFill>
        <p:spPr>
          <a:xfrm xmlns:a="http://schemas.openxmlformats.org/drawingml/2006/main">
            <a:off x="688141" y="2038350"/>
            <a:ext cx="7615318" cy="4286250"/>
          </a:xfrm>
          <a:prstGeom xmlns:a="http://schemas.openxmlformats.org/drawingml/2006/main" prst="roundRect">
            <a:avLst>
              <a:gd name="adj" fmla="val 4000"/>
            </a:avLst>
          </a:prstGeom>
        </p:spPr>
      </p:pic>
      <p:sp>
        <p:nvSpPr>
          <p:cNvPr id="8" name="text-129">
            <a:extLst xmlns:a="http://schemas.openxmlformats.org/drawingml/2006/main">
              <a:ext uri="{FF2B5EF4-FFF2-40B4-BE49-F238E27FC236}">
                <a16:creationId xmlns:a16="http://schemas.microsoft.com/office/drawing/2014/main" id="{036A4A27-8307-4B9B-B13F-DDEDCDF9D956}"/>
              </a:ext>
            </a:extLst>
          </p:cNvPr>
          <p:cNvSpPr>
            <a:spLocks xmlns:a="http://schemas.openxmlformats.org/drawingml/2006/main" noGrp="1"/>
          </p:cNvSpPr>
          <p:nvPr/>
        </p:nvSpPr>
        <p:spPr>
          <a:xfrm xmlns:a="http://schemas.openxmlformats.org/drawingml/2006/main">
            <a:off x="8858250" y="203835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What I learned</a:t>
            </a:r>
          </a:p>
        </p:txBody>
      </p:sp>
      <p:sp>
        <p:nvSpPr>
          <p:cNvPr id="9" name="text-130">
            <a:extLst xmlns:a="http://schemas.openxmlformats.org/drawingml/2006/main">
              <a:ext uri="{FF2B5EF4-FFF2-40B4-BE49-F238E27FC236}">
                <a16:creationId xmlns:a16="http://schemas.microsoft.com/office/drawing/2014/main" id="{7B24004F-62E1-4DCE-B450-11ED6509C873}"/>
              </a:ext>
            </a:extLst>
          </p:cNvPr>
          <p:cNvSpPr>
            <a:spLocks xmlns:a="http://schemas.openxmlformats.org/drawingml/2006/main" noGrp="1"/>
          </p:cNvSpPr>
          <p:nvPr/>
        </p:nvSpPr>
        <p:spPr>
          <a:xfrm xmlns:a="http://schemas.openxmlformats.org/drawingml/2006/main">
            <a:off x="8858250" y="2543175"/>
            <a:ext cx="5524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2314A"/>
                </a:solidFill>
                <a:latin typeface="Lato"/>
                <a:ea typeface="Lato"/>
                <a:cs typeface="Lato"/>
              </a:defRPr>
            </a:defPPr>
          </a:lstStyle>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Shared state needs clear ownership.</a:t>
            </a:r>
          </a:p>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Hosting affects backend functionality.</a:t>
            </a:r>
          </a:p>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Small changes are easier to verify.</a:t>
            </a:r>
          </a:p>
        </p:txBody>
      </p:sp>
      <p:sp>
        <p:nvSpPr>
          <p:cNvPr id="10" name="text-131">
            <a:extLst xmlns:a="http://schemas.openxmlformats.org/drawingml/2006/main">
              <a:ext uri="{FF2B5EF4-FFF2-40B4-BE49-F238E27FC236}">
                <a16:creationId xmlns:a16="http://schemas.microsoft.com/office/drawing/2014/main" id="{234F6FE8-8CF3-4148-A72A-5EE66C2068DC}"/>
              </a:ext>
            </a:extLst>
          </p:cNvPr>
          <p:cNvSpPr>
            <a:spLocks xmlns:a="http://schemas.openxmlformats.org/drawingml/2006/main" noGrp="1"/>
          </p:cNvSpPr>
          <p:nvPr/>
        </p:nvSpPr>
        <p:spPr>
          <a:xfrm xmlns:a="http://schemas.openxmlformats.org/drawingml/2006/main">
            <a:off x="8858250" y="436245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32345"/>
                </a:solidFill>
                <a:latin typeface="Lato"/>
                <a:ea typeface="Lato"/>
                <a:cs typeface="Lato"/>
              </a:defRPr>
            </a:defPPr>
          </a:lstStyle>
          <a:p xmlns:a="http://schemas.openxmlformats.org/drawingml/2006/main">
            <a:pPr>
              <a:defRPr sz="2250" b="1">
                <a:solidFill>
                  <a:srgbClr val="132345"/>
                </a:solidFill>
                <a:latin typeface="Lato"/>
                <a:ea typeface="Lato"/>
                <a:cs typeface="Lato"/>
              </a:defRPr>
            </a:pPr>
            <a:r>
              <a:rPr sz="2250" b="1">
                <a:solidFill>
                  <a:srgbClr val="132345"/>
                </a:solidFill>
                <a:latin typeface="Lato"/>
                <a:ea typeface="Lato"/>
                <a:cs typeface="Lato"/>
              </a:rPr>
              <a:t>Future business development</a:t>
            </a:r>
          </a:p>
        </p:txBody>
      </p:sp>
      <p:sp>
        <p:nvSpPr>
          <p:cNvPr id="11" name="text-132">
            <a:extLst xmlns:a="http://schemas.openxmlformats.org/drawingml/2006/main">
              <a:ext uri="{FF2B5EF4-FFF2-40B4-BE49-F238E27FC236}">
                <a16:creationId xmlns:a16="http://schemas.microsoft.com/office/drawing/2014/main" id="{337E233D-9551-427A-B973-4890E857DC52}"/>
              </a:ext>
            </a:extLst>
          </p:cNvPr>
          <p:cNvSpPr>
            <a:spLocks xmlns:a="http://schemas.openxmlformats.org/drawingml/2006/main" noGrp="1"/>
          </p:cNvSpPr>
          <p:nvPr/>
        </p:nvSpPr>
        <p:spPr>
          <a:xfrm xmlns:a="http://schemas.openxmlformats.org/drawingml/2006/main">
            <a:off x="8858250" y="4876800"/>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22314A"/>
                </a:solidFill>
                <a:latin typeface="Lato"/>
                <a:ea typeface="Lato"/>
                <a:cs typeface="Lato"/>
              </a:defRPr>
            </a:defPPr>
          </a:lstStyle>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More Ukrainian manufacturers</a:t>
            </a:r>
          </a:p>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German localization</a:t>
            </a:r>
          </a:p>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Online payments</a:t>
            </a:r>
          </a:p>
          <a:p xmlns:a="http://schemas.openxmlformats.org/drawingml/2006/main">
            <a:pPr>
              <a:defRPr sz="2175" b="0">
                <a:solidFill>
                  <a:srgbClr val="22314A"/>
                </a:solidFill>
                <a:latin typeface="Lato"/>
                <a:ea typeface="Lato"/>
                <a:cs typeface="Lato"/>
              </a:defRPr>
            </a:pPr>
            <a:r>
              <a:rPr sz="2175" b="0">
                <a:solidFill>
                  <a:srgbClr val="22314A"/>
                </a:solidFill>
                <a:latin typeface="Lato"/>
                <a:ea typeface="Lato"/>
                <a:cs typeface="Lato"/>
              </a:rPr>
              <a:t>A paginated catalogue API</a:t>
            </a:r>
          </a:p>
        </p:txBody>
      </p:sp>
      <p:sp>
        <p:nvSpPr>
          <p:cNvPr id="12" name="panel-133">
            <a:extLst xmlns:a="http://schemas.openxmlformats.org/drawingml/2006/main">
              <a:ext uri="{FF2B5EF4-FFF2-40B4-BE49-F238E27FC236}">
                <a16:creationId xmlns:a16="http://schemas.microsoft.com/office/drawing/2014/main" id="{D16D7F07-3C97-445D-8961-3068033E6B3A}"/>
              </a:ext>
            </a:extLst>
          </p:cNvPr>
          <p:cNvSpPr>
            <a:spLocks xmlns:a="http://schemas.openxmlformats.org/drawingml/2006/main" noGrp="1"/>
          </p:cNvSpPr>
          <p:nvPr/>
        </p:nvSpPr>
        <p:spPr>
          <a:xfrm xmlns:a="http://schemas.openxmlformats.org/drawingml/2006/main">
            <a:off x="685800" y="6715125"/>
            <a:ext cx="13849350" cy="752475"/>
          </a:xfrm>
          <a:prstGeom xmlns:a="http://schemas.openxmlformats.org/drawingml/2006/main" prst="roundRect">
            <a:avLst>
              <a:gd name="adj" fmla="val 21519"/>
            </a:avLst>
          </a:prstGeom>
          <a:solidFill xmlns:a="http://schemas.openxmlformats.org/drawingml/2006/main">
            <a:srgbClr val="132345"/>
          </a:solidFill>
          <a:ln xmlns:a="http://schemas.openxmlformats.org/drawingml/2006/main" w="0">
            <a:noFill/>
          </a:ln>
        </p:spPr>
      </p:sp>
      <p:sp>
        <p:nvSpPr>
          <p:cNvPr id="13" name="text-134">
            <a:extLst xmlns:a="http://schemas.openxmlformats.org/drawingml/2006/main">
              <a:ext uri="{FF2B5EF4-FFF2-40B4-BE49-F238E27FC236}">
                <a16:creationId xmlns:a16="http://schemas.microsoft.com/office/drawing/2014/main" id="{0B38D223-B016-45C4-A21A-5445D7B1A35F}"/>
              </a:ext>
            </a:extLst>
          </p:cNvPr>
          <p:cNvSpPr>
            <a:spLocks xmlns:a="http://schemas.openxmlformats.org/drawingml/2006/main" noGrp="1"/>
          </p:cNvSpPr>
          <p:nvPr/>
        </p:nvSpPr>
        <p:spPr>
          <a:xfrm xmlns:a="http://schemas.openxmlformats.org/drawingml/2006/main">
            <a:off x="952500" y="691515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FFFFFF"/>
                </a:solidFill>
                <a:latin typeface="Lato"/>
                <a:ea typeface="Lato"/>
                <a:cs typeface="Lato"/>
              </a:defRPr>
            </a:defPPr>
          </a:lstStyle>
          <a:p xmlns:a="http://schemas.openxmlformats.org/drawingml/2006/main">
            <a:pPr>
              <a:defRPr sz="2475" b="1">
                <a:solidFill>
                  <a:srgbClr val="FFFFFF"/>
                </a:solidFill>
                <a:latin typeface="Lato"/>
                <a:ea typeface="Lato"/>
                <a:cs typeface="Lato"/>
              </a:defRPr>
            </a:pPr>
            <a:r>
              <a:rPr sz="2475" b="1">
                <a:solidFill>
                  <a:srgbClr val="FFFFFF"/>
                </a:solidFill>
                <a:latin typeface="Lato"/>
                <a:ea typeface="Lato"/>
                <a:cs typeface="Lato"/>
              </a:rPr>
              <a:t>Thank you</a:t>
            </a:r>
          </a:p>
        </p:txBody>
      </p:sp>
      <p:sp>
        <p:nvSpPr>
          <p:cNvPr id="14" name="text-135">
            <a:extLst xmlns:a="http://schemas.openxmlformats.org/drawingml/2006/main">
              <a:ext uri="{FF2B5EF4-FFF2-40B4-BE49-F238E27FC236}">
                <a16:creationId xmlns:a16="http://schemas.microsoft.com/office/drawing/2014/main" id="{D7931D81-E65C-4A76-91BC-19B7AFAF305B}"/>
              </a:ext>
            </a:extLst>
          </p:cNvPr>
          <p:cNvSpPr>
            <a:spLocks xmlns:a="http://schemas.openxmlformats.org/drawingml/2006/main" noGrp="1"/>
          </p:cNvSpPr>
          <p:nvPr/>
        </p:nvSpPr>
        <p:spPr>
          <a:xfrm xmlns:a="http://schemas.openxmlformats.org/drawingml/2006/main">
            <a:off x="10191750" y="69532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FFFFFF"/>
                </a:solidFill>
                <a:latin typeface="Lato"/>
                <a:ea typeface="Lato"/>
                <a:cs typeface="Lato"/>
              </a:defRPr>
            </a:defPPr>
          </a:lstStyle>
          <a:p xmlns:a="http://schemas.openxmlformats.org/drawingml/2006/main">
            <a:pPr>
              <a:defRPr sz="2025" b="1">
                <a:solidFill>
                  <a:srgbClr val="FFFFFF"/>
                </a:solidFill>
                <a:latin typeface="Lato"/>
                <a:ea typeface="Lato"/>
                <a:cs typeface="Lato"/>
              </a:defRPr>
            </a:pPr>
            <a:r>
              <a:rPr sz="2025" b="1">
                <a:solidFill>
                  <a:srgbClr val="FFFFFF"/>
                </a:solidFill>
                <a:latin typeface="Lato"/>
                <a:ea typeface="Lato"/>
                <a:cs typeface="Lato"/>
                <a:hlinkClick xmlns:r="http://schemas.openxmlformats.org/officeDocument/2006/relationships" r:id="R9c9ae4a04fc44f70"/>
              </a:rPr>
              <a:t>Explore Meloria Shop</a:t>
            </a:r>
          </a:p>
        </p:txBody>
      </p:sp>
    </p:spTree>
    <p:extLst>
      <p:ext uri="{BB962C8B-B14F-4D97-AF65-F5344CB8AC3E}">
        <p14:creationId xmlns:p14="http://schemas.microsoft.com/office/powerpoint/2010/main" val="8461566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ato"/>
        <a:ea typeface=""/>
        <a:cs typeface=""/>
      </a:majorFont>
      <a:minorFont>
        <a:latin typeface="La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2026-10-16T08:27:38.8540000Z</dcterms:created>
  <dcterms:modified xsi:type="dcterms:W3CDTF">2026-10-16T08:27:38.8550000Z</dcterms:modified>
</coreProperties>
</file>